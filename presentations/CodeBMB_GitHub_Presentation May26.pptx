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5" r:id="rId11"/>
    <p:sldId id="266" r:id="rId12"/>
    <p:sldId id="271" r:id="rId13"/>
    <p:sldId id="272" r:id="rId14"/>
    <p:sldId id="267" r:id="rId15"/>
    <p:sldId id="268" r:id="rId16"/>
    <p:sldId id="269" r:id="rId17"/>
    <p:sldId id="273" r:id="rId18"/>
    <p:sldId id="264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64"/>
    <a:srgbClr val="9EB4C7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/>
    <p:restoredTop sz="96301"/>
  </p:normalViewPr>
  <p:slideViewPr>
    <p:cSldViewPr snapToGrid="0" snapToObjects="1">
      <p:cViewPr varScale="1">
        <p:scale>
          <a:sx n="132" d="100"/>
          <a:sy n="132" d="100"/>
        </p:scale>
        <p:origin x="184" y="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8B10A-EFDE-FB49-BB1F-0DD9A866CA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E5783-34F2-BB42-BEDC-4E3EF3B5E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9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06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7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34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F354-2DEA-6499-BE5E-D7E26C63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6DF5F-A809-194E-D146-007D0CE0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56836-6E86-0275-C3FB-44B76275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1113-8E55-DA07-49B4-F29DECA9A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84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36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E5783-34F2-BB42-BEDC-4E3EF3B5E1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10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A067F-1F9C-D7FE-5754-EF822BEC1D68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534C-8954-99BB-8DB5-7176F481DFB5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9" name="Picture 8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0D4C80D5-72D0-A67A-4929-5E0ABC80586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83C8AD-4834-5B86-9B3A-70E363DE9682}"/>
              </a:ext>
            </a:extLst>
          </p:cNvPr>
          <p:cNvSpPr/>
          <p:nvPr/>
        </p:nvSpPr>
        <p:spPr>
          <a:xfrm>
            <a:off x="0" y="7749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1C6DB-1865-2876-4084-001B444A8D4A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Introduction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029" y="2541470"/>
            <a:ext cx="6047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Accessing, Sharing, and Storing Your Code and Notebooks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78D5A-B793-65D8-AA12-5BC84B29B755}"/>
              </a:ext>
            </a:extLst>
          </p:cNvPr>
          <p:cNvSpPr txBox="1"/>
          <p:nvPr/>
        </p:nvSpPr>
        <p:spPr>
          <a:xfrm>
            <a:off x="457200" y="493776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dirty="0">
                <a:solidFill>
                  <a:srgbClr val="BDD7EE"/>
                </a:solidFill>
              </a:rPr>
              <a:t>Wally Novak</a:t>
            </a:r>
          </a:p>
          <a:p>
            <a:pPr algn="ctr"/>
            <a:r>
              <a:rPr sz="2400" b="0" dirty="0" err="1">
                <a:solidFill>
                  <a:srgbClr val="BDD7EE"/>
                </a:solidFill>
              </a:rPr>
              <a:t>CodeBMB</a:t>
            </a:r>
            <a:r>
              <a:rPr sz="2400" b="0" dirty="0">
                <a:solidFill>
                  <a:srgbClr val="BDD7EE"/>
                </a:solidFill>
              </a:rPr>
              <a:t> Workshop</a:t>
            </a:r>
          </a:p>
        </p:txBody>
      </p:sp>
      <p:pic>
        <p:nvPicPr>
          <p:cNvPr id="10" name="Picture 9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C563F762-8DC8-1951-E06C-B2A528EC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By the End of This Session You Will Be Able 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Explain </a:t>
            </a:r>
            <a:r>
              <a:rPr sz="3200" b="1" dirty="0">
                <a:solidFill>
                  <a:srgbClr val="404040"/>
                </a:solidFill>
              </a:rPr>
              <a:t>what GitHub is </a:t>
            </a:r>
            <a:r>
              <a:rPr sz="3200" dirty="0">
                <a:solidFill>
                  <a:srgbClr val="404040"/>
                </a:solidFill>
              </a:rPr>
              <a:t>and why it is useful for scientists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Navigate a GitHub repository to </a:t>
            </a:r>
            <a:r>
              <a:rPr sz="3200" b="1" dirty="0">
                <a:solidFill>
                  <a:srgbClr val="404040"/>
                </a:solidFill>
              </a:rPr>
              <a:t>find files and notebooks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b="1" dirty="0">
                <a:solidFill>
                  <a:srgbClr val="404040"/>
                </a:solidFill>
              </a:rPr>
              <a:t>Open a </a:t>
            </a:r>
            <a:r>
              <a:rPr sz="3200" b="1" dirty="0" err="1">
                <a:solidFill>
                  <a:srgbClr val="404040"/>
                </a:solidFill>
              </a:rPr>
              <a:t>Colab</a:t>
            </a:r>
            <a:r>
              <a:rPr sz="3200" b="1" dirty="0">
                <a:solidFill>
                  <a:srgbClr val="404040"/>
                </a:solidFill>
              </a:rPr>
              <a:t> notebook </a:t>
            </a:r>
            <a:r>
              <a:rPr sz="3200" dirty="0">
                <a:solidFill>
                  <a:srgbClr val="404040"/>
                </a:solidFill>
              </a:rPr>
              <a:t>directly from GitHub</a:t>
            </a:r>
            <a:r>
              <a:rPr lang="en-US" sz="3200" dirty="0">
                <a:solidFill>
                  <a:srgbClr val="404040"/>
                </a:solidFill>
              </a:rPr>
              <a:t> </a:t>
            </a:r>
          </a:p>
          <a:p>
            <a:pPr marL="914400" lvl="1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with or without an Open in </a:t>
            </a:r>
            <a:r>
              <a:rPr sz="3200" dirty="0" err="1">
                <a:solidFill>
                  <a:srgbClr val="404040"/>
                </a:solidFill>
              </a:rPr>
              <a:t>Colab</a:t>
            </a:r>
            <a:r>
              <a:rPr sz="3200" dirty="0">
                <a:solidFill>
                  <a:srgbClr val="404040"/>
                </a:solidFill>
              </a:rPr>
              <a:t> button</a:t>
            </a: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04040"/>
                </a:solidFill>
              </a:rPr>
              <a:t>Fork a repository to </a:t>
            </a:r>
            <a:r>
              <a:rPr lang="en-US" sz="3200" b="1" dirty="0">
                <a:solidFill>
                  <a:srgbClr val="404040"/>
                </a:solidFill>
              </a:rPr>
              <a:t>create your own </a:t>
            </a:r>
            <a:r>
              <a:rPr lang="en-US" sz="3200" dirty="0">
                <a:solidFill>
                  <a:srgbClr val="404040"/>
                </a:solidFill>
              </a:rPr>
              <a:t>editable copy (GitHub account required)</a:t>
            </a:r>
            <a:endParaRPr lang="en-US" sz="3200" b="1" dirty="0">
              <a:solidFill>
                <a:srgbClr val="404040"/>
              </a:solidFill>
            </a:endParaRP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404040"/>
                </a:solidFill>
              </a:rPr>
              <a:t>Create a new repository </a:t>
            </a:r>
            <a:r>
              <a:rPr lang="en-US" sz="3200" dirty="0">
                <a:solidFill>
                  <a:srgbClr val="404040"/>
                </a:solidFill>
              </a:rPr>
              <a:t>from scratch</a:t>
            </a:r>
            <a:endParaRPr sz="3200" dirty="0">
              <a:solidFill>
                <a:srgbClr val="404040"/>
              </a:solidFill>
            </a:endParaRPr>
          </a:p>
          <a:p>
            <a:pPr marL="457200" indent="-457200">
              <a:spcBef>
                <a:spcPts val="624"/>
              </a:spcBef>
              <a:buFont typeface="Arial" panose="020B0604020202020204" pitchFamily="34" charset="0"/>
              <a:buChar char="•"/>
            </a:pPr>
            <a:r>
              <a:rPr sz="3200" dirty="0">
                <a:solidFill>
                  <a:srgbClr val="404040"/>
                </a:solidFill>
              </a:rPr>
              <a:t>Describe how GitHub supports </a:t>
            </a:r>
            <a:r>
              <a:rPr sz="3200" b="1" dirty="0">
                <a:solidFill>
                  <a:srgbClr val="404040"/>
                </a:solidFill>
              </a:rPr>
              <a:t>reproducibility, sharing, and collaboration</a:t>
            </a:r>
            <a:r>
              <a:rPr sz="3200" dirty="0">
                <a:solidFill>
                  <a:srgbClr val="404040"/>
                </a:solidFill>
              </a:rPr>
              <a:t> in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GitHub and Why Do We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Think of GitHub as a combination of three things: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📁  </a:t>
            </a:r>
            <a:r>
              <a:rPr lang="en-US" sz="2400" b="1" dirty="0">
                <a:solidFill>
                  <a:srgbClr val="FFFFFF"/>
                </a:solidFill>
              </a:rPr>
              <a:t>Sh</a:t>
            </a:r>
            <a:r>
              <a:rPr sz="2400" b="1" dirty="0">
                <a:solidFill>
                  <a:srgbClr val="FFFFFF"/>
                </a:solidFill>
              </a:rPr>
              <a:t>ared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rgbClr val="1F3564"/>
                </a:solidFill>
              </a:rPr>
              <a:t>Store and access
files from anywhere,
on any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657600" cy="685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29768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📓  </a:t>
            </a:r>
            <a:r>
              <a:rPr lang="en-US" sz="2400" b="1" dirty="0">
                <a:solidFill>
                  <a:srgbClr val="FFFFFF"/>
                </a:solidFill>
              </a:rPr>
              <a:t>L</a:t>
            </a:r>
            <a:r>
              <a:rPr sz="2400" b="1" dirty="0">
                <a:solidFill>
                  <a:srgbClr val="FFFFFF"/>
                </a:solidFill>
              </a:rPr>
              <a:t>ab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notebook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Every change is
recorded with who
made it and 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6858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1024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🔗  </a:t>
            </a:r>
            <a:r>
              <a:rPr lang="en-US" sz="2400" b="1" dirty="0">
                <a:solidFill>
                  <a:srgbClr val="FFFFFF"/>
                </a:solidFill>
              </a:rPr>
              <a:t>P</a:t>
            </a:r>
            <a:r>
              <a:rPr sz="2400" b="1" dirty="0">
                <a:solidFill>
                  <a:srgbClr val="FFFFFF"/>
                </a:solidFill>
              </a:rPr>
              <a:t>ublishing</a:t>
            </a:r>
            <a:r>
              <a:rPr lang="en-US" sz="2400" b="1" dirty="0">
                <a:solidFill>
                  <a:srgbClr val="FFFFFF"/>
                </a:solidFill>
              </a:rPr>
              <a:t> </a:t>
            </a:r>
            <a:r>
              <a:rPr sz="2400" b="1" dirty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23160"/>
            <a:ext cx="3657600" cy="1645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3474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F3564"/>
                </a:solidFill>
              </a:rPr>
              <a:t>Share your code
with colleagues,
students, or the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F3564"/>
                </a:solidFill>
              </a:rPr>
              <a:t>Why GitHub specifically?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1247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b="1" u="sng" dirty="0">
                <a:solidFill>
                  <a:srgbClr val="404040"/>
                </a:solidFill>
              </a:rPr>
              <a:t>Free</a:t>
            </a:r>
            <a:r>
              <a:rPr sz="2400" dirty="0">
                <a:solidFill>
                  <a:srgbClr val="404040"/>
                </a:solidFill>
              </a:rPr>
              <a:t> for public 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Used across science, industry, and education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404040"/>
                </a:solidFill>
              </a:rPr>
              <a:t>Integrates directly with Google </a:t>
            </a:r>
            <a:r>
              <a:rPr sz="2400" dirty="0" err="1">
                <a:solidFill>
                  <a:srgbClr val="404040"/>
                </a:solidFill>
              </a:rPr>
              <a:t>Colab</a:t>
            </a:r>
            <a:r>
              <a:rPr sz="2400" dirty="0">
                <a:solidFill>
                  <a:srgbClr val="404040"/>
                </a:solidFill>
              </a:rPr>
              <a:t> </a:t>
            </a:r>
            <a:r>
              <a:rPr lang="en-US" sz="2400" dirty="0">
                <a:solidFill>
                  <a:srgbClr val="404040"/>
                </a:solidFill>
              </a:rPr>
              <a:t>with the O</a:t>
            </a:r>
            <a:r>
              <a:rPr sz="2400" dirty="0">
                <a:solidFill>
                  <a:srgbClr val="404040"/>
                </a:solidFill>
              </a:rPr>
              <a:t>pen</a:t>
            </a:r>
            <a:r>
              <a:rPr lang="en-US" sz="2400" dirty="0">
                <a:solidFill>
                  <a:srgbClr val="404040"/>
                </a:solidFill>
              </a:rPr>
              <a:t> in </a:t>
            </a:r>
            <a:r>
              <a:rPr lang="en-US" sz="2400" dirty="0" err="1">
                <a:solidFill>
                  <a:srgbClr val="404040"/>
                </a:solidFill>
              </a:rPr>
              <a:t>Colab</a:t>
            </a:r>
            <a:r>
              <a:rPr lang="en-US" sz="2400" dirty="0">
                <a:solidFill>
                  <a:srgbClr val="404040"/>
                </a:solidFill>
              </a:rPr>
              <a:t>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Easily update materials (version control)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GitHub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Five terms you need to know before we start: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384048" y="1664208"/>
            <a:ext cx="1975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Repository
(repo)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627632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2514600" y="1673352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folder that contains all the files for a project — code, notebooks, data, and documentation.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T</a:t>
            </a:r>
            <a:r>
              <a:rPr lang="en-US" sz="2000" b="0" dirty="0">
                <a:solidFill>
                  <a:srgbClr val="404040"/>
                </a:solidFill>
              </a:rPr>
              <a:t>his is effectively </a:t>
            </a:r>
            <a:r>
              <a:rPr sz="2000" b="0" dirty="0">
                <a:solidFill>
                  <a:srgbClr val="404040"/>
                </a:solidFill>
              </a:rPr>
              <a:t>a project folder that lives in the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23744"/>
            <a:ext cx="2011680" cy="8046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84048" y="2560320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523744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2514600" y="2569463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text file (usually </a:t>
            </a:r>
            <a:r>
              <a:rPr sz="2000" b="0" dirty="0" err="1">
                <a:solidFill>
                  <a:srgbClr val="404040"/>
                </a:solidFill>
              </a:rPr>
              <a:t>README.md</a:t>
            </a:r>
            <a:r>
              <a:rPr sz="2000" b="0" dirty="0">
                <a:solidFill>
                  <a:srgbClr val="404040"/>
                </a:solidFill>
              </a:rPr>
              <a:t>) that appears on the front page of a repository.
It explains what the project is and how to use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2011680" cy="8046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384048" y="3456432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419856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2514600" y="3465576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saved snapshot of your files at a specific point in time, with a short message describing what changed.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4315968"/>
            <a:ext cx="201168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84048" y="4352544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Fork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315968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2514600" y="4361688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04040"/>
                </a:solidFill>
              </a:rPr>
              <a:t>Your own personal copy of someone else's repository.
You can make changes to your fork without affecting the original.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2011680" cy="80467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84048" y="5248656"/>
            <a:ext cx="1975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5212080"/>
            <a:ext cx="941832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2514600" y="5257800"/>
            <a:ext cx="923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parallel version of the repository</a:t>
            </a:r>
            <a:r>
              <a:rPr lang="en-US" sz="2000" b="0" dirty="0">
                <a:solidFill>
                  <a:srgbClr val="404040"/>
                </a:solidFill>
              </a:rPr>
              <a:t>, the one you want is</a:t>
            </a:r>
            <a:r>
              <a:rPr sz="2000" b="0" dirty="0">
                <a:solidFill>
                  <a:srgbClr val="404040"/>
                </a:solidFill>
              </a:rPr>
              <a:t> almost always called 'main</a:t>
            </a:r>
            <a:r>
              <a:rPr lang="en-US" sz="2000" b="0" dirty="0">
                <a:solidFill>
                  <a:srgbClr val="404040"/>
                </a:solidFill>
              </a:rPr>
              <a:t>.</a:t>
            </a:r>
            <a:r>
              <a:rPr sz="2000" b="0" dirty="0">
                <a:solidFill>
                  <a:srgbClr val="404040"/>
                </a:solidFill>
              </a:rPr>
              <a:t>' You will rarely need to think about branches as a beginner.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Anatomy of a GitHub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6606B-BB5F-AA8A-1490-0720E6FE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42" y="1097280"/>
            <a:ext cx="10196339" cy="52581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246120" y="1124235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① Repository</a:t>
            </a:r>
            <a:r>
              <a:rPr lang="en-US" sz="2000" b="1" dirty="0">
                <a:solidFill>
                  <a:srgbClr val="FF7700"/>
                </a:solidFill>
              </a:rPr>
              <a:t> </a:t>
            </a:r>
            <a:r>
              <a:rPr sz="2000" b="1" dirty="0">
                <a:solidFill>
                  <a:srgbClr val="FF7700"/>
                </a:solidFill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025769"/>
            <a:ext cx="2834640" cy="54864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② Folders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4736" y="4675520"/>
            <a:ext cx="2926080" cy="54864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③ Notebooks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2181" y="5955297"/>
            <a:ext cx="28346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④ README</a:t>
            </a:r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id="{9039749A-4626-5919-C5BC-723955BD74F4}"/>
              </a:ext>
            </a:extLst>
          </p:cNvPr>
          <p:cNvSpPr/>
          <p:nvPr/>
        </p:nvSpPr>
        <p:spPr>
          <a:xfrm>
            <a:off x="701750" y="3944384"/>
            <a:ext cx="3662986" cy="2010913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uble Brace 36">
            <a:extLst>
              <a:ext uri="{FF2B5EF4-FFF2-40B4-BE49-F238E27FC236}">
                <a16:creationId xmlns:a16="http://schemas.microsoft.com/office/drawing/2014/main" id="{0B41E108-8707-8F34-59AE-184A4171955F}"/>
              </a:ext>
            </a:extLst>
          </p:cNvPr>
          <p:cNvSpPr/>
          <p:nvPr/>
        </p:nvSpPr>
        <p:spPr>
          <a:xfrm>
            <a:off x="829056" y="2648478"/>
            <a:ext cx="2023872" cy="1204465"/>
          </a:xfrm>
          <a:prstGeom prst="bracePair">
            <a:avLst/>
          </a:prstGeom>
          <a:ln>
            <a:solidFill>
              <a:srgbClr val="FF7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Walkthrough 1 — Finding the CodeBMB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0948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89237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6690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84048" y="1341554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286690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2057400" y="137813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3564"/>
                </a:solidFill>
              </a:rPr>
              <a:t>Open a browser and go to:  github.com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7938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84048" y="2182802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27938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2057400" y="2219378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In the search bar at the top, type: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lang="en-US" sz="2400" dirty="0">
                <a:solidFill>
                  <a:srgbClr val="1F3564"/>
                </a:solidFill>
              </a:rPr>
              <a:t> </a:t>
            </a:r>
            <a:r>
              <a:rPr sz="2400" b="0" dirty="0">
                <a:solidFill>
                  <a:srgbClr val="1F3564"/>
                </a:solidFill>
              </a:rPr>
              <a:t>and press 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9186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384048" y="3024050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2969186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2057400" y="3060626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repository:  </a:t>
            </a:r>
            <a:r>
              <a:rPr sz="2400" b="0" dirty="0" err="1">
                <a:solidFill>
                  <a:srgbClr val="1F3564"/>
                </a:solidFill>
              </a:rPr>
              <a:t>codeBMB</a:t>
            </a:r>
            <a:r>
              <a:rPr sz="2400" b="0" dirty="0">
                <a:solidFill>
                  <a:srgbClr val="1F3564"/>
                </a:solidFill>
              </a:rPr>
              <a:t>/</a:t>
            </a:r>
            <a:r>
              <a:rPr lang="en-US" sz="2400" b="0" dirty="0">
                <a:solidFill>
                  <a:srgbClr val="1F3564"/>
                </a:solidFill>
              </a:rPr>
              <a:t>May</a:t>
            </a:r>
            <a:r>
              <a:rPr sz="2400" b="0" dirty="0">
                <a:solidFill>
                  <a:srgbClr val="1F3564"/>
                </a:solidFill>
              </a:rPr>
              <a:t>26_</a:t>
            </a:r>
            <a:r>
              <a:rPr lang="en-US" sz="2400" b="0" dirty="0">
                <a:solidFill>
                  <a:srgbClr val="1F3564"/>
                </a:solidFill>
              </a:rPr>
              <a:t>codeBMB</a:t>
            </a:r>
            <a:endParaRPr sz="2400" b="0" dirty="0">
              <a:solidFill>
                <a:srgbClr val="1F3564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810434"/>
            <a:ext cx="146304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84048" y="3865297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810434"/>
            <a:ext cx="98755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2057400" y="3901873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Read the READM</a:t>
            </a:r>
            <a:r>
              <a:rPr lang="en-US" sz="2400" b="0" dirty="0">
                <a:solidFill>
                  <a:srgbClr val="1F3564"/>
                </a:solidFill>
              </a:rPr>
              <a:t>E,</a:t>
            </a:r>
            <a:r>
              <a:rPr sz="2400" b="0" dirty="0">
                <a:solidFill>
                  <a:srgbClr val="1F3564"/>
                </a:solidFill>
              </a:rPr>
              <a:t> this tells you what the repository contains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51682"/>
            <a:ext cx="1463040" cy="8817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384048" y="4706545"/>
            <a:ext cx="1426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651682"/>
            <a:ext cx="9875520" cy="88174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2057400" y="4690867"/>
            <a:ext cx="9601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1F3564"/>
                </a:solidFill>
              </a:rPr>
              <a:t>Click on the file  </a:t>
            </a:r>
            <a:r>
              <a:rPr lang="en-US" sz="2400" b="0" dirty="0">
                <a:solidFill>
                  <a:srgbClr val="1F3564"/>
                </a:solidFill>
              </a:rPr>
              <a:t>001_Intro_to_Google_Colab.ipynb </a:t>
            </a:r>
            <a:r>
              <a:rPr sz="2400" b="0" dirty="0">
                <a:solidFill>
                  <a:srgbClr val="1F3564"/>
                </a:solidFill>
              </a:rPr>
              <a:t>to see what a notebook looks like on 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24868"/>
            <a:ext cx="114300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548640" y="5670588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</a:rPr>
              <a:t>💡  Tip: You do not need a GitHub account to browse, read, or download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2 — Opening a Notebook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- A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9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70AD47"/>
                </a:solidFill>
              </a:rPr>
              <a:t>Option A — Using the Open in </a:t>
            </a:r>
            <a:r>
              <a:rPr sz="2400" b="1" dirty="0" err="1">
                <a:solidFill>
                  <a:srgbClr val="70AD47"/>
                </a:solidFill>
              </a:rPr>
              <a:t>Colab</a:t>
            </a:r>
            <a:r>
              <a:rPr sz="2400" b="1" dirty="0">
                <a:solidFill>
                  <a:srgbClr val="70AD47"/>
                </a:solidFill>
              </a:rPr>
              <a:t> button (easiest)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90973"/>
            <a:ext cx="411480" cy="39677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973941" y="159565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Navigate to the repository on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3611"/>
            <a:ext cx="411480" cy="39677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973941" y="2042161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Find a notebook that has an </a:t>
            </a:r>
            <a:r>
              <a:rPr lang="en-US" sz="2400" b="0" dirty="0">
                <a:solidFill>
                  <a:srgbClr val="404040"/>
                </a:solidFill>
              </a:rPr>
              <a:t>"</a:t>
            </a:r>
            <a:r>
              <a:rPr sz="2400" b="0" dirty="0">
                <a:solidFill>
                  <a:srgbClr val="404040"/>
                </a:solidFill>
              </a:rPr>
              <a:t>Open in </a:t>
            </a:r>
            <a:r>
              <a:rPr sz="2400" b="0" dirty="0" err="1">
                <a:solidFill>
                  <a:srgbClr val="404040"/>
                </a:solidFill>
              </a:rPr>
              <a:t>Colab</a:t>
            </a:r>
            <a:r>
              <a:rPr lang="en-US" sz="2400" b="0" dirty="0">
                <a:solidFill>
                  <a:srgbClr val="404040"/>
                </a:solidFill>
              </a:rPr>
              <a:t>"</a:t>
            </a:r>
            <a:r>
              <a:rPr sz="2400" b="0" dirty="0">
                <a:solidFill>
                  <a:srgbClr val="404040"/>
                </a:solidFill>
              </a:rPr>
              <a:t> button near the top of the README or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3641"/>
            <a:ext cx="411480" cy="396777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973941" y="282831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Click the button — the notebook opens directly in </a:t>
            </a:r>
            <a:r>
              <a:rPr sz="2400" b="0" dirty="0" err="1">
                <a:solidFill>
                  <a:srgbClr val="404040"/>
                </a:solidFill>
              </a:rPr>
              <a:t>Colab</a:t>
            </a:r>
            <a:endParaRPr sz="2400" b="0" dirty="0">
              <a:solidFill>
                <a:srgbClr val="40404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298208"/>
            <a:ext cx="411480" cy="39399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73941" y="327675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Go to  File → Save a copy in Drive  to save your own editable version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EE8E75-5F51-866B-7290-E17745FEDF81}"/>
              </a:ext>
            </a:extLst>
          </p:cNvPr>
          <p:cNvSpPr txBox="1"/>
          <p:nvPr/>
        </p:nvSpPr>
        <p:spPr>
          <a:xfrm>
            <a:off x="370205" y="1618419"/>
            <a:ext cx="40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6ACB6-624E-2D0D-B10A-5098ED286B64}"/>
              </a:ext>
            </a:extLst>
          </p:cNvPr>
          <p:cNvSpPr txBox="1"/>
          <p:nvPr/>
        </p:nvSpPr>
        <p:spPr>
          <a:xfrm>
            <a:off x="365760" y="2093018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488EC4-3B94-ED90-0F08-27BD5E1A186B}"/>
              </a:ext>
            </a:extLst>
          </p:cNvPr>
          <p:cNvSpPr txBox="1"/>
          <p:nvPr/>
        </p:nvSpPr>
        <p:spPr>
          <a:xfrm>
            <a:off x="365760" y="2856558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87192F-997C-4AE8-8411-37059401D3D4}"/>
              </a:ext>
            </a:extLst>
          </p:cNvPr>
          <p:cNvSpPr txBox="1"/>
          <p:nvPr/>
        </p:nvSpPr>
        <p:spPr>
          <a:xfrm>
            <a:off x="365760" y="3322872"/>
            <a:ext cx="41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016C-7125-E300-30D9-67205490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889285-617F-6C94-A311-EB623B37D7E0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0A662-4407-C8E1-C98F-2D867F269A7C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2 — Opening a Notebook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- B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88C91-429F-397A-0838-EEBC662A1D43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EBD3A-CC38-FB62-C354-AEE2A1BECF1F}"/>
              </a:ext>
            </a:extLst>
          </p:cNvPr>
          <p:cNvSpPr txBox="1"/>
          <p:nvPr/>
        </p:nvSpPr>
        <p:spPr>
          <a:xfrm>
            <a:off x="9893809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9D3BE-0824-405E-D2A6-B0B08EE561E8}"/>
              </a:ext>
            </a:extLst>
          </p:cNvPr>
          <p:cNvSpPr txBox="1"/>
          <p:nvPr/>
        </p:nvSpPr>
        <p:spPr>
          <a:xfrm>
            <a:off x="365760" y="1115568"/>
            <a:ext cx="10256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Option B — No button? Use the GitHub tab in </a:t>
            </a:r>
            <a:r>
              <a:rPr sz="2400" b="1" dirty="0" err="1">
                <a:solidFill>
                  <a:srgbClr val="2E75B6"/>
                </a:solidFill>
              </a:rPr>
              <a:t>Colab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22AEDF-F464-AEC1-0272-14AB88CADB69}"/>
              </a:ext>
            </a:extLst>
          </p:cNvPr>
          <p:cNvSpPr/>
          <p:nvPr/>
        </p:nvSpPr>
        <p:spPr>
          <a:xfrm>
            <a:off x="365760" y="1621326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9CBFC-6AB1-7323-A4FC-6F2FC3A3312E}"/>
              </a:ext>
            </a:extLst>
          </p:cNvPr>
          <p:cNvSpPr txBox="1"/>
          <p:nvPr/>
        </p:nvSpPr>
        <p:spPr>
          <a:xfrm>
            <a:off x="365759" y="1639615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4320-B5B4-7062-BCF4-0C3FE3BA292E}"/>
              </a:ext>
            </a:extLst>
          </p:cNvPr>
          <p:cNvSpPr txBox="1"/>
          <p:nvPr/>
        </p:nvSpPr>
        <p:spPr>
          <a:xfrm>
            <a:off x="914400" y="1587796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Go to </a:t>
            </a:r>
            <a:r>
              <a:rPr sz="2400" b="0" dirty="0" err="1">
                <a:solidFill>
                  <a:srgbClr val="404040"/>
                </a:solidFill>
              </a:rPr>
              <a:t>colab.research.google.com</a:t>
            </a:r>
            <a:endParaRPr sz="2400" b="0" dirty="0">
              <a:solidFill>
                <a:srgbClr val="40404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769356-A041-378E-6977-DD4916CBC44A}"/>
              </a:ext>
            </a:extLst>
          </p:cNvPr>
          <p:cNvSpPr/>
          <p:nvPr/>
        </p:nvSpPr>
        <p:spPr>
          <a:xfrm>
            <a:off x="365760" y="2061476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CDD544-19CA-739E-09F8-41134C3E6F98}"/>
              </a:ext>
            </a:extLst>
          </p:cNvPr>
          <p:cNvSpPr txBox="1"/>
          <p:nvPr/>
        </p:nvSpPr>
        <p:spPr>
          <a:xfrm>
            <a:off x="365759" y="2079765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9911A-46F1-689A-239C-73C4234B0556}"/>
              </a:ext>
            </a:extLst>
          </p:cNvPr>
          <p:cNvSpPr txBox="1"/>
          <p:nvPr/>
        </p:nvSpPr>
        <p:spPr>
          <a:xfrm>
            <a:off x="914400" y="2027946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Click File → Open notebook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F21FDD-8E6B-3A01-1A9C-0564A83964C0}"/>
              </a:ext>
            </a:extLst>
          </p:cNvPr>
          <p:cNvSpPr/>
          <p:nvPr/>
        </p:nvSpPr>
        <p:spPr>
          <a:xfrm>
            <a:off x="365760" y="2512259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C425FD-1A94-37A7-A9D5-FBA35E73F2BC}"/>
              </a:ext>
            </a:extLst>
          </p:cNvPr>
          <p:cNvSpPr txBox="1"/>
          <p:nvPr/>
        </p:nvSpPr>
        <p:spPr>
          <a:xfrm>
            <a:off x="365759" y="2530547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863846-2214-ADEE-FD02-C7A473D76EC1}"/>
              </a:ext>
            </a:extLst>
          </p:cNvPr>
          <p:cNvSpPr txBox="1"/>
          <p:nvPr/>
        </p:nvSpPr>
        <p:spPr>
          <a:xfrm>
            <a:off x="914400" y="247872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Click the GitHub tab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9436BA-92D6-9757-AF51-4A612DDEBCF8}"/>
              </a:ext>
            </a:extLst>
          </p:cNvPr>
          <p:cNvSpPr/>
          <p:nvPr/>
        </p:nvSpPr>
        <p:spPr>
          <a:xfrm>
            <a:off x="365760" y="2952409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4E30FC-9633-7135-3FA4-C0487461BCAE}"/>
              </a:ext>
            </a:extLst>
          </p:cNvPr>
          <p:cNvSpPr txBox="1"/>
          <p:nvPr/>
        </p:nvSpPr>
        <p:spPr>
          <a:xfrm>
            <a:off x="365759" y="2970697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343E1-EC07-7A33-64E8-49444A9E82EF}"/>
              </a:ext>
            </a:extLst>
          </p:cNvPr>
          <p:cNvSpPr txBox="1"/>
          <p:nvPr/>
        </p:nvSpPr>
        <p:spPr>
          <a:xfrm>
            <a:off x="914400" y="2918879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Paste the repository URL:  </a:t>
            </a:r>
            <a:r>
              <a:rPr sz="2400" b="0" dirty="0" err="1">
                <a:solidFill>
                  <a:srgbClr val="404040"/>
                </a:solidFill>
              </a:rPr>
              <a:t>github.com</a:t>
            </a:r>
            <a:r>
              <a:rPr sz="2400" b="0" dirty="0">
                <a:solidFill>
                  <a:srgbClr val="404040"/>
                </a:solidFill>
              </a:rPr>
              <a:t>/</a:t>
            </a:r>
            <a:r>
              <a:rPr sz="2400" b="0" dirty="0" err="1">
                <a:solidFill>
                  <a:srgbClr val="404040"/>
                </a:solidFill>
              </a:rPr>
              <a:t>codeBMB</a:t>
            </a:r>
            <a:r>
              <a:rPr sz="2400" b="0" dirty="0">
                <a:solidFill>
                  <a:srgbClr val="404040"/>
                </a:solidFill>
              </a:rPr>
              <a:t>/</a:t>
            </a:r>
            <a:r>
              <a:rPr lang="en-US" sz="2400" b="0" dirty="0">
                <a:solidFill>
                  <a:srgbClr val="404040"/>
                </a:solidFill>
              </a:rPr>
              <a:t>May</a:t>
            </a:r>
            <a:r>
              <a:rPr sz="2400" b="0" dirty="0">
                <a:solidFill>
                  <a:srgbClr val="404040"/>
                </a:solidFill>
              </a:rPr>
              <a:t>26_</a:t>
            </a:r>
            <a:r>
              <a:rPr lang="en-US" sz="2400" dirty="0">
                <a:solidFill>
                  <a:srgbClr val="404040"/>
                </a:solidFill>
              </a:rPr>
              <a:t>codeBMB</a:t>
            </a:r>
            <a:endParaRPr sz="2400" b="0" dirty="0">
              <a:solidFill>
                <a:srgbClr val="40404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0B7CAE-A616-D964-F30E-44AFEDB13743}"/>
              </a:ext>
            </a:extLst>
          </p:cNvPr>
          <p:cNvSpPr/>
          <p:nvPr/>
        </p:nvSpPr>
        <p:spPr>
          <a:xfrm>
            <a:off x="365760" y="3403192"/>
            <a:ext cx="411480" cy="387619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969021-B292-1EEB-F6B3-ACE6E47D8382}"/>
              </a:ext>
            </a:extLst>
          </p:cNvPr>
          <p:cNvSpPr txBox="1"/>
          <p:nvPr/>
        </p:nvSpPr>
        <p:spPr>
          <a:xfrm>
            <a:off x="365759" y="3421480"/>
            <a:ext cx="411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6127E9-5D6A-B713-B4C1-A20D972A0F6D}"/>
              </a:ext>
            </a:extLst>
          </p:cNvPr>
          <p:cNvSpPr txBox="1"/>
          <p:nvPr/>
        </p:nvSpPr>
        <p:spPr>
          <a:xfrm>
            <a:off x="914400" y="3369662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04040"/>
                </a:solidFill>
              </a:rPr>
              <a:t>Select the notebook you want</a:t>
            </a:r>
            <a:r>
              <a:rPr lang="en-US" sz="2400" dirty="0">
                <a:solidFill>
                  <a:srgbClr val="404040"/>
                </a:solidFill>
              </a:rPr>
              <a:t>, and </a:t>
            </a:r>
            <a:r>
              <a:rPr sz="2400" b="0" dirty="0">
                <a:solidFill>
                  <a:srgbClr val="404040"/>
                </a:solidFill>
              </a:rPr>
              <a:t>it opens immediately</a:t>
            </a:r>
          </a:p>
        </p:txBody>
      </p:sp>
    </p:spTree>
    <p:extLst>
      <p:ext uri="{BB962C8B-B14F-4D97-AF65-F5344CB8AC3E}">
        <p14:creationId xmlns:p14="http://schemas.microsoft.com/office/powerpoint/2010/main" val="70201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Opening Any Notebook Without a Badge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</a:rPr>
              <a:t>The File → Open notebook → GitHub tab works for ANY public notebook on GitHub: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60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365760" y="164632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94822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Go to </a:t>
            </a:r>
            <a:r>
              <a:rPr sz="2000" b="0" dirty="0" err="1">
                <a:solidFill>
                  <a:srgbClr val="404040"/>
                </a:solidFill>
              </a:rPr>
              <a:t>colab.research.google.com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2304688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65760" y="2350407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6573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*</a:t>
            </a:r>
            <a:r>
              <a:rPr sz="2000" b="0" dirty="0">
                <a:solidFill>
                  <a:srgbClr val="404040"/>
                </a:solidFill>
              </a:rPr>
              <a:t>Click 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r>
              <a:rPr sz="2000" b="0" dirty="0">
                <a:solidFill>
                  <a:srgbClr val="404040"/>
                </a:solidFill>
              </a:rPr>
              <a:t>File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r>
              <a:rPr sz="2000" b="0" dirty="0">
                <a:solidFill>
                  <a:srgbClr val="404040"/>
                </a:solidFill>
              </a:rPr>
              <a:t> in the top menu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087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365760" y="305449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1072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*</a:t>
            </a:r>
            <a:r>
              <a:rPr sz="2000" b="0" dirty="0">
                <a:solidFill>
                  <a:srgbClr val="404040"/>
                </a:solidFill>
              </a:rPr>
              <a:t>Click 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r>
              <a:rPr sz="2000" b="0" dirty="0">
                <a:solidFill>
                  <a:srgbClr val="404040"/>
                </a:solidFill>
              </a:rPr>
              <a:t>Open notebook</a:t>
            </a:r>
            <a:r>
              <a:rPr lang="en-US" sz="2000" b="0" dirty="0">
                <a:solidFill>
                  <a:srgbClr val="404040"/>
                </a:solidFill>
              </a:rPr>
              <a:t>"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71286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65760" y="375858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01102"/>
            <a:ext cx="65551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Click the  GitHub  tab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(you </a:t>
            </a:r>
            <a:r>
              <a:rPr lang="en-US" sz="2000" b="0" dirty="0">
                <a:solidFill>
                  <a:srgbClr val="404040"/>
                </a:solidFill>
              </a:rPr>
              <a:t>may</a:t>
            </a:r>
            <a:r>
              <a:rPr sz="2000" b="0" dirty="0">
                <a:solidFill>
                  <a:srgbClr val="404040"/>
                </a:solidFill>
              </a:rPr>
              <a:t> see tabs for Google Drive,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GitHub, and Upload)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1695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365760" y="4462672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2243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Paste the repository URL and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press 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104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365760" y="516676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06122"/>
            <a:ext cx="6555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Click the notebook you want</a:t>
            </a:r>
            <a:r>
              <a:rPr lang="en-US" sz="2000" b="0" dirty="0">
                <a:solidFill>
                  <a:srgbClr val="404040"/>
                </a:solidFill>
              </a:rPr>
              <a:t> </a:t>
            </a:r>
            <a:r>
              <a:rPr sz="2000" b="0" dirty="0">
                <a:solidFill>
                  <a:srgbClr val="404040"/>
                </a:solidFill>
              </a:rPr>
              <a:t>from the list that appears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4310" y="1743318"/>
            <a:ext cx="5732890" cy="1748969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302710" y="1807326"/>
            <a:ext cx="549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The URL you paste</a:t>
            </a:r>
            <a:r>
              <a:rPr lang="en-US" b="1" dirty="0">
                <a:solidFill>
                  <a:srgbClr val="FFFFFF"/>
                </a:solidFill>
              </a:rPr>
              <a:t> in step 5</a:t>
            </a:r>
            <a:r>
              <a:rPr b="1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91958"/>
            <a:ext cx="5394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Format: </a:t>
            </a:r>
            <a:r>
              <a:rPr lang="en-US" dirty="0" err="1">
                <a:solidFill>
                  <a:srgbClr val="FFFFFF"/>
                </a:solidFill>
              </a:rPr>
              <a:t>github.com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>
                <a:solidFill>
                  <a:srgbClr val="BDD7EE"/>
                </a:solidFill>
              </a:rPr>
              <a:t>username/</a:t>
            </a:r>
            <a:r>
              <a:rPr lang="en-US" dirty="0">
                <a:solidFill>
                  <a:srgbClr val="70AD47"/>
                </a:solidFill>
              </a:rPr>
              <a:t>REPO</a:t>
            </a:r>
          </a:p>
          <a:p>
            <a:endParaRPr lang="en-US" dirty="0">
              <a:solidFill>
                <a:srgbClr val="70AD47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Example: </a:t>
            </a:r>
            <a:r>
              <a:rPr lang="en-US" dirty="0" err="1">
                <a:solidFill>
                  <a:srgbClr val="FFFFFF"/>
                </a:solidFill>
              </a:rPr>
              <a:t>github.com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BDD7EE"/>
                </a:solidFill>
              </a:rPr>
              <a:t>codeBMB</a:t>
            </a:r>
            <a:r>
              <a:rPr lang="en-US" dirty="0">
                <a:solidFill>
                  <a:srgbClr val="BDD7EE"/>
                </a:solidFill>
              </a:rPr>
              <a:t>/</a:t>
            </a:r>
            <a:r>
              <a:rPr lang="en-US" dirty="0">
                <a:solidFill>
                  <a:srgbClr val="70AD47"/>
                </a:solidFill>
              </a:rPr>
              <a:t>April26_Rutgers-RCSB</a:t>
            </a:r>
          </a:p>
          <a:p>
            <a:endParaRPr lang="en-US" dirty="0">
              <a:solidFill>
                <a:srgbClr val="70AD47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65760" y="5833872"/>
            <a:ext cx="11430000" cy="5029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879592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💡  This method </a:t>
            </a:r>
            <a:r>
              <a:rPr lang="en-US" b="1" dirty="0">
                <a:solidFill>
                  <a:srgbClr val="FFFFFF"/>
                </a:solidFill>
              </a:rPr>
              <a:t>works </a:t>
            </a:r>
            <a:r>
              <a:rPr b="1" dirty="0">
                <a:solidFill>
                  <a:srgbClr val="FFFFFF"/>
                </a:solidFill>
              </a:rPr>
              <a:t>for </a:t>
            </a:r>
            <a:r>
              <a:rPr b="1" i="1" dirty="0">
                <a:solidFill>
                  <a:srgbClr val="FFFFFF"/>
                </a:solidFill>
              </a:rPr>
              <a:t>any</a:t>
            </a:r>
            <a:r>
              <a:rPr b="1" dirty="0">
                <a:solidFill>
                  <a:srgbClr val="FFFFFF"/>
                </a:solidFill>
              </a:rPr>
              <a:t> public GitHub 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Do You Need a GitHub Account?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Short</a:t>
            </a:r>
            <a:r>
              <a:rPr sz="1800" b="1" dirty="0">
                <a:solidFill>
                  <a:srgbClr val="2E75B6"/>
                </a:solidFill>
              </a:rPr>
              <a:t> answer: </a:t>
            </a:r>
            <a:r>
              <a:rPr lang="en-US" sz="1800" b="1" dirty="0">
                <a:solidFill>
                  <a:srgbClr val="2E75B6"/>
                </a:solidFill>
              </a:rPr>
              <a:t>yes </a:t>
            </a:r>
            <a:r>
              <a:rPr lang="en-US" sz="1800" b="1" dirty="0">
                <a:solidFill>
                  <a:srgbClr val="2E75B6"/>
                </a:solidFill>
                <a:sym typeface="Wingdings" pitchFamily="2" charset="2"/>
              </a:rPr>
              <a:t> hopefully today!</a:t>
            </a:r>
            <a:endParaRPr sz="1800" b="1" dirty="0">
              <a:solidFill>
                <a:srgbClr val="2E75B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548640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❌  No account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029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Browse any public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Read and view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in Colab via badge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Open a notebook via the GitHub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029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✅  Download individual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64208"/>
            <a:ext cx="5486400" cy="5486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00800" y="170992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✅  Account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67712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46520" y="232257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Fork a repository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950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Save work back to 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01568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446520" y="345643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Create your own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68496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564"/>
                </a:solidFill>
              </a:rPr>
              <a:t>🔑  Share your notebooks publicly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35424"/>
            <a:ext cx="5486400" cy="5120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6446520" y="459028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🔑  Contribute to the </a:t>
            </a:r>
            <a:r>
              <a:rPr lang="en-US" sz="2000" dirty="0" err="1">
                <a:solidFill>
                  <a:srgbClr val="1F3564"/>
                </a:solidFill>
              </a:rPr>
              <a:t>Code</a:t>
            </a:r>
            <a:r>
              <a:rPr sz="2000" b="0" dirty="0" err="1">
                <a:solidFill>
                  <a:srgbClr val="1F3564"/>
                </a:solidFill>
              </a:rPr>
              <a:t>BMB</a:t>
            </a:r>
            <a:r>
              <a:rPr sz="2000" b="0" dirty="0">
                <a:solidFill>
                  <a:srgbClr val="1F3564"/>
                </a:solidFill>
              </a:rPr>
              <a:t> community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66359"/>
            <a:ext cx="11430000" cy="828923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48640" y="5230368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</a:rPr>
              <a:t>Creating a free GitHub account takes 2 minutes at </a:t>
            </a:r>
            <a:r>
              <a:rPr sz="2000" b="0" dirty="0" err="1">
                <a:solidFill>
                  <a:srgbClr val="FFFFFF"/>
                </a:solidFill>
              </a:rPr>
              <a:t>github.com</a:t>
            </a:r>
            <a:r>
              <a:rPr sz="2000" b="0" dirty="0">
                <a:solidFill>
                  <a:srgbClr val="FFFFFF"/>
                </a:solidFill>
              </a:rPr>
              <a:t>  — </a:t>
            </a:r>
            <a:r>
              <a:rPr lang="en-US" sz="2000" b="0" dirty="0">
                <a:solidFill>
                  <a:srgbClr val="FFFFFF"/>
                </a:solidFill>
              </a:rPr>
              <a:t>you can do </a:t>
            </a:r>
            <a:r>
              <a:rPr sz="2000" b="0" dirty="0">
                <a:solidFill>
                  <a:srgbClr val="FFFFFF"/>
                </a:solidFill>
              </a:rPr>
              <a:t>this before the next section if you haven't already.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3</a:t>
            </a:r>
            <a:r>
              <a:rPr sz="3000" b="1" dirty="0">
                <a:solidFill>
                  <a:srgbClr val="FFFFFF"/>
                </a:solidFill>
              </a:rPr>
              <a:t> — Forking a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7700"/>
                </a:solidFill>
              </a:rPr>
              <a:t>⚠️  This section requires a GitHub account.  If you don't have one yet, follow along and try this at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31809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404040"/>
                </a:solidFill>
              </a:rPr>
              <a:t>A fork is your own personal copy of the </a:t>
            </a:r>
            <a:r>
              <a:rPr sz="2000" b="0" dirty="0" err="1">
                <a:solidFill>
                  <a:srgbClr val="404040"/>
                </a:solidFill>
              </a:rPr>
              <a:t>CodeBMB</a:t>
            </a:r>
            <a:r>
              <a:rPr sz="2000" b="0" dirty="0">
                <a:solidFill>
                  <a:srgbClr val="404040"/>
                </a:solidFill>
              </a:rPr>
              <a:t> repository. You can edit it, save to it, and build on it</a:t>
            </a:r>
            <a:r>
              <a:rPr lang="en-US" sz="2000" b="0" dirty="0">
                <a:solidFill>
                  <a:srgbClr val="404040"/>
                </a:solidFill>
              </a:rPr>
              <a:t>, all</a:t>
            </a:r>
            <a:r>
              <a:rPr sz="2000" b="0" dirty="0">
                <a:solidFill>
                  <a:srgbClr val="404040"/>
                </a:solidFill>
              </a:rPr>
              <a:t> without changing the original</a:t>
            </a:r>
            <a:r>
              <a:rPr lang="en-US" sz="2000" b="0" dirty="0">
                <a:solidFill>
                  <a:srgbClr val="404040"/>
                </a:solidFill>
              </a:rPr>
              <a:t>!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2080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65760" y="225379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2080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051560" y="226294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b="1" dirty="0" err="1">
                <a:solidFill>
                  <a:srgbClr val="1F3564"/>
                </a:solidFill>
              </a:rPr>
              <a:t>codeBMB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lang="en-US" b="1" dirty="0">
                <a:solidFill>
                  <a:srgbClr val="1F3564"/>
                </a:solidFill>
              </a:rPr>
              <a:t>May</a:t>
            </a:r>
            <a:r>
              <a:rPr b="1" dirty="0">
                <a:solidFill>
                  <a:srgbClr val="1F3564"/>
                </a:solidFill>
              </a:rPr>
              <a:t>26_</a:t>
            </a:r>
            <a:r>
              <a:rPr lang="en-US" b="1" dirty="0">
                <a:solidFill>
                  <a:srgbClr val="1F3564"/>
                </a:solidFill>
              </a:rPr>
              <a:t>codeBMB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866443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5760" y="291216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66443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051560" y="292130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Click the  Fork  button in the top-right corner of the repository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481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65760" y="357053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52481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051560" y="3579676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Leave all settings as default and click </a:t>
            </a:r>
            <a:r>
              <a:rPr b="1" dirty="0">
                <a:solidFill>
                  <a:srgbClr val="1F3564"/>
                </a:solidFill>
              </a:rPr>
              <a:t>Create fork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3180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365760" y="422890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183180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051560" y="423804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GitHub redirect</a:t>
            </a:r>
            <a:r>
              <a:rPr lang="en-US" b="0" dirty="0">
                <a:solidFill>
                  <a:srgbClr val="1F3564"/>
                </a:solidFill>
              </a:rPr>
              <a:t>s</a:t>
            </a:r>
            <a:r>
              <a:rPr b="0" dirty="0">
                <a:solidFill>
                  <a:srgbClr val="1F3564"/>
                </a:solidFill>
              </a:rPr>
              <a:t> you to YOUR copy of the repository at:</a:t>
            </a:r>
            <a:r>
              <a:rPr lang="en-US" b="0" dirty="0">
                <a:solidFill>
                  <a:srgbClr val="1F3564"/>
                </a:solidFill>
              </a:rPr>
              <a:t> </a:t>
            </a:r>
            <a:r>
              <a:rPr b="0" dirty="0" err="1">
                <a:solidFill>
                  <a:srgbClr val="1F3564"/>
                </a:solidFill>
              </a:rPr>
              <a:t>github.com</a:t>
            </a:r>
            <a:r>
              <a:rPr b="0" dirty="0">
                <a:solidFill>
                  <a:srgbClr val="1F3564"/>
                </a:solidFill>
              </a:rPr>
              <a:t>/YOUR-USERNAME/</a:t>
            </a:r>
            <a:r>
              <a:rPr lang="en-US" b="0" dirty="0">
                <a:solidFill>
                  <a:srgbClr val="1F3564"/>
                </a:solidFill>
              </a:rPr>
              <a:t>May</a:t>
            </a:r>
            <a:r>
              <a:rPr b="0" dirty="0">
                <a:solidFill>
                  <a:srgbClr val="1F3564"/>
                </a:solidFill>
              </a:rPr>
              <a:t>26_</a:t>
            </a:r>
            <a:r>
              <a:rPr lang="en-US" b="0" dirty="0">
                <a:solidFill>
                  <a:srgbClr val="1F3564"/>
                </a:solidFill>
              </a:rPr>
              <a:t>codeBMB</a:t>
            </a:r>
            <a:endParaRPr b="0" dirty="0">
              <a:solidFill>
                <a:srgbClr val="1F3564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F1FAFB-A997-DF1A-BD08-547B719F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416" y="2908045"/>
            <a:ext cx="1371600" cy="4699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5448FDC-51C1-B6FA-5E3A-E59A4DF7ED05}"/>
              </a:ext>
            </a:extLst>
          </p:cNvPr>
          <p:cNvSpPr/>
          <p:nvPr/>
        </p:nvSpPr>
        <p:spPr>
          <a:xfrm>
            <a:off x="365760" y="5059380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74F53E-F198-AC26-1F6D-9DC21E248EAB}"/>
              </a:ext>
            </a:extLst>
          </p:cNvPr>
          <p:cNvSpPr txBox="1"/>
          <p:nvPr/>
        </p:nvSpPr>
        <p:spPr>
          <a:xfrm>
            <a:off x="365760" y="5105099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CE47C1-073B-CE13-6B93-72DFB1BD20FF}"/>
              </a:ext>
            </a:extLst>
          </p:cNvPr>
          <p:cNvSpPr/>
          <p:nvPr/>
        </p:nvSpPr>
        <p:spPr>
          <a:xfrm>
            <a:off x="960120" y="4843068"/>
            <a:ext cx="10789920" cy="1056287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9547C6-44E0-BF43-78F9-F0153D2E2E38}"/>
              </a:ext>
            </a:extLst>
          </p:cNvPr>
          <p:cNvSpPr txBox="1"/>
          <p:nvPr/>
        </p:nvSpPr>
        <p:spPr>
          <a:xfrm>
            <a:off x="1051560" y="4897933"/>
            <a:ext cx="10561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3564"/>
                </a:solidFill>
              </a:rPr>
              <a:t>N.B. Don’t use the Open in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button the first time you open your forked notebook. </a:t>
            </a:r>
            <a:r>
              <a:rPr lang="en-US" dirty="0">
                <a:solidFill>
                  <a:srgbClr val="1F3564"/>
                </a:solidFill>
              </a:rPr>
              <a:t>It still points to the </a:t>
            </a:r>
            <a:r>
              <a:rPr lang="en-US" dirty="0" err="1">
                <a:solidFill>
                  <a:srgbClr val="1F3564"/>
                </a:solidFill>
              </a:rPr>
              <a:t>codeBMB</a:t>
            </a:r>
            <a:r>
              <a:rPr lang="en-US" dirty="0">
                <a:solidFill>
                  <a:srgbClr val="1F3564"/>
                </a:solidFill>
              </a:rPr>
              <a:t> repo. Instead, use the method in </a:t>
            </a:r>
            <a:r>
              <a:rPr lang="en-US" u="sng" dirty="0">
                <a:solidFill>
                  <a:srgbClr val="1F3564"/>
                </a:solidFill>
              </a:rPr>
              <a:t>walkthrough 2</a:t>
            </a:r>
            <a:r>
              <a:rPr lang="en-US" dirty="0">
                <a:solidFill>
                  <a:srgbClr val="1F3564"/>
                </a:solidFill>
              </a:rPr>
              <a:t> to open your notebook and then save it to GitHub with the “Include a link to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” button checked. This updates the button to your repository! </a:t>
            </a:r>
            <a:endParaRPr b="0" dirty="0">
              <a:solidFill>
                <a:srgbClr val="1F356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0E15-BC50-5A6F-50EC-4E458F1C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AD4346-E45C-830C-29AF-5C62952E0386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EB20B-FCE7-ABE0-036F-2DC7535D5607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4</a:t>
            </a:r>
            <a:r>
              <a:rPr sz="3000" b="1" dirty="0">
                <a:solidFill>
                  <a:srgbClr val="FFFFFF"/>
                </a:solidFill>
              </a:rPr>
              <a:t> </a:t>
            </a:r>
            <a:r>
              <a:rPr lang="en-US" sz="3000" b="1" dirty="0">
                <a:solidFill>
                  <a:srgbClr val="FFFFFF"/>
                </a:solidFill>
              </a:rPr>
              <a:t>(Part 1) </a:t>
            </a:r>
            <a:r>
              <a:rPr sz="3000" b="1" dirty="0">
                <a:solidFill>
                  <a:srgbClr val="FFFFFF"/>
                </a:solidFill>
              </a:rPr>
              <a:t>— </a:t>
            </a:r>
            <a:r>
              <a:rPr lang="en-US" sz="3000" b="1" dirty="0">
                <a:solidFill>
                  <a:srgbClr val="FFFFFF"/>
                </a:solidFill>
              </a:rPr>
              <a:t>Creating</a:t>
            </a:r>
            <a:r>
              <a:rPr sz="3000" b="1" dirty="0">
                <a:solidFill>
                  <a:srgbClr val="FFFFFF"/>
                </a:solidFill>
              </a:rPr>
              <a:t> a </a:t>
            </a:r>
            <a:r>
              <a:rPr lang="en-US" sz="3000" b="1" dirty="0">
                <a:solidFill>
                  <a:srgbClr val="FFFFFF"/>
                </a:solidFill>
              </a:rPr>
              <a:t>New </a:t>
            </a:r>
            <a:r>
              <a:rPr sz="3000" b="1" dirty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F2045-9B1C-DA93-9736-E8E2342FDB09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B8753-A8B0-9804-19AE-3E5A6BFE9FE1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01BD4-5C5D-9F65-0CA1-CA750A624FB5}"/>
              </a:ext>
            </a:extLst>
          </p:cNvPr>
          <p:cNvSpPr txBox="1"/>
          <p:nvPr/>
        </p:nvSpPr>
        <p:spPr>
          <a:xfrm>
            <a:off x="365760" y="1078992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7700"/>
                </a:solidFill>
              </a:rPr>
              <a:t>⚠️  This section requires a GitHub account.  If you don't have one yet, follow along and try this at home.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63FD2-31A6-8A58-1388-F358DCBD5B76}"/>
              </a:ext>
            </a:extLst>
          </p:cNvPr>
          <p:cNvSpPr txBox="1"/>
          <p:nvPr/>
        </p:nvSpPr>
        <p:spPr>
          <a:xfrm>
            <a:off x="365760" y="1570541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404040"/>
                </a:solidFill>
              </a:rPr>
              <a:t>You can create a new </a:t>
            </a:r>
            <a:r>
              <a:rPr sz="2000" b="0" dirty="0">
                <a:solidFill>
                  <a:srgbClr val="404040"/>
                </a:solidFill>
              </a:rPr>
              <a:t>repository</a:t>
            </a:r>
            <a:r>
              <a:rPr lang="en-US" sz="2000" b="0" dirty="0">
                <a:solidFill>
                  <a:srgbClr val="404040"/>
                </a:solidFill>
              </a:rPr>
              <a:t> for your own ideas</a:t>
            </a:r>
            <a:r>
              <a:rPr sz="2000" b="0" dirty="0">
                <a:solidFill>
                  <a:srgbClr val="404040"/>
                </a:solidFill>
              </a:rPr>
              <a:t>. You can edit it, save to it, and build on it</a:t>
            </a:r>
            <a:r>
              <a:rPr lang="en-US" sz="2000" dirty="0">
                <a:solidFill>
                  <a:srgbClr val="404040"/>
                </a:solidFill>
              </a:rPr>
              <a:t>. </a:t>
            </a:r>
            <a:endParaRPr sz="2000" b="0" dirty="0">
              <a:solidFill>
                <a:srgbClr val="4040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B8BF8-BDD0-D129-78C3-DEFF77B400BA}"/>
              </a:ext>
            </a:extLst>
          </p:cNvPr>
          <p:cNvSpPr/>
          <p:nvPr/>
        </p:nvSpPr>
        <p:spPr>
          <a:xfrm>
            <a:off x="365760" y="2208076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E600-192D-0572-5B19-9E55B5548C07}"/>
              </a:ext>
            </a:extLst>
          </p:cNvPr>
          <p:cNvSpPr txBox="1"/>
          <p:nvPr/>
        </p:nvSpPr>
        <p:spPr>
          <a:xfrm>
            <a:off x="365760" y="225379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169EF7-52F0-8422-4798-6130444F4BA2}"/>
              </a:ext>
            </a:extLst>
          </p:cNvPr>
          <p:cNvSpPr/>
          <p:nvPr/>
        </p:nvSpPr>
        <p:spPr>
          <a:xfrm>
            <a:off x="960120" y="2208076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0551C-1933-9752-24E9-CF37B2005E4F}"/>
              </a:ext>
            </a:extLst>
          </p:cNvPr>
          <p:cNvSpPr txBox="1"/>
          <p:nvPr/>
        </p:nvSpPr>
        <p:spPr>
          <a:xfrm>
            <a:off x="1051560" y="2320300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Go to  </a:t>
            </a:r>
            <a:r>
              <a:rPr b="1" dirty="0" err="1">
                <a:solidFill>
                  <a:srgbClr val="1F3564"/>
                </a:solidFill>
              </a:rPr>
              <a:t>github.com</a:t>
            </a:r>
            <a:r>
              <a:rPr b="1" dirty="0">
                <a:solidFill>
                  <a:srgbClr val="1F3564"/>
                </a:solidFill>
              </a:rPr>
              <a:t>/</a:t>
            </a:r>
            <a:r>
              <a:rPr lang="en-US" b="1" dirty="0">
                <a:solidFill>
                  <a:srgbClr val="1F3564"/>
                </a:solidFill>
              </a:rPr>
              <a:t>YOUR-USERNAME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ACEF1-0E70-B7FC-C4F5-69F55BACD8BF}"/>
              </a:ext>
            </a:extLst>
          </p:cNvPr>
          <p:cNvSpPr/>
          <p:nvPr/>
        </p:nvSpPr>
        <p:spPr>
          <a:xfrm>
            <a:off x="365760" y="2866443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C148E1-656B-2C4D-DDAF-5830D12FB283}"/>
              </a:ext>
            </a:extLst>
          </p:cNvPr>
          <p:cNvSpPr txBox="1"/>
          <p:nvPr/>
        </p:nvSpPr>
        <p:spPr>
          <a:xfrm>
            <a:off x="365760" y="291216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676565-E437-FBC5-87EE-C037B4F329A0}"/>
              </a:ext>
            </a:extLst>
          </p:cNvPr>
          <p:cNvSpPr/>
          <p:nvPr/>
        </p:nvSpPr>
        <p:spPr>
          <a:xfrm>
            <a:off x="960120" y="2876068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EA2FF-3FFB-B361-5BBF-866E592544B8}"/>
              </a:ext>
            </a:extLst>
          </p:cNvPr>
          <p:cNvSpPr txBox="1"/>
          <p:nvPr/>
        </p:nvSpPr>
        <p:spPr>
          <a:xfrm>
            <a:off x="1051560" y="292130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Click the </a:t>
            </a:r>
            <a:r>
              <a:rPr lang="en-US" b="1" dirty="0">
                <a:solidFill>
                  <a:srgbClr val="1F3564"/>
                </a:solidFill>
              </a:rPr>
              <a:t>+</a:t>
            </a:r>
            <a:r>
              <a:rPr lang="en-US" b="0" dirty="0">
                <a:solidFill>
                  <a:srgbClr val="1F3564"/>
                </a:solidFill>
              </a:rPr>
              <a:t> icon in the top-right corner of the page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CC3D1-6E66-0D44-8968-AA1B210606EA}"/>
              </a:ext>
            </a:extLst>
          </p:cNvPr>
          <p:cNvSpPr/>
          <p:nvPr/>
        </p:nvSpPr>
        <p:spPr>
          <a:xfrm>
            <a:off x="365760" y="3524812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BBD833-6481-6D52-B9ED-EDF482BF7DB3}"/>
              </a:ext>
            </a:extLst>
          </p:cNvPr>
          <p:cNvSpPr txBox="1"/>
          <p:nvPr/>
        </p:nvSpPr>
        <p:spPr>
          <a:xfrm>
            <a:off x="365760" y="3570531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E86AD1-7E11-1191-0AB8-0D1F6FA1E49E}"/>
              </a:ext>
            </a:extLst>
          </p:cNvPr>
          <p:cNvSpPr/>
          <p:nvPr/>
        </p:nvSpPr>
        <p:spPr>
          <a:xfrm>
            <a:off x="960120" y="3523292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E22F2-9F58-3EFC-5EDA-A25ACE12437B}"/>
              </a:ext>
            </a:extLst>
          </p:cNvPr>
          <p:cNvSpPr txBox="1"/>
          <p:nvPr/>
        </p:nvSpPr>
        <p:spPr>
          <a:xfrm>
            <a:off x="1051560" y="3616697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Select </a:t>
            </a:r>
            <a:r>
              <a:rPr lang="en-US" b="1" dirty="0">
                <a:solidFill>
                  <a:srgbClr val="1F3564"/>
                </a:solidFill>
              </a:rPr>
              <a:t>New repository </a:t>
            </a:r>
            <a:r>
              <a:rPr lang="en-US" b="0" dirty="0">
                <a:solidFill>
                  <a:srgbClr val="1F3564"/>
                </a:solidFill>
              </a:rPr>
              <a:t>from the dropdown menu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D0D95-D79A-FEA9-639C-0BECAD0C2022}"/>
              </a:ext>
            </a:extLst>
          </p:cNvPr>
          <p:cNvSpPr/>
          <p:nvPr/>
        </p:nvSpPr>
        <p:spPr>
          <a:xfrm>
            <a:off x="365760" y="4183180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E9E8C-4144-9C10-4E65-52997B8AF6AC}"/>
              </a:ext>
            </a:extLst>
          </p:cNvPr>
          <p:cNvSpPr txBox="1"/>
          <p:nvPr/>
        </p:nvSpPr>
        <p:spPr>
          <a:xfrm>
            <a:off x="365760" y="422890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5803BC-9999-7EA0-784B-C7D9456014A4}"/>
              </a:ext>
            </a:extLst>
          </p:cNvPr>
          <p:cNvSpPr/>
          <p:nvPr/>
        </p:nvSpPr>
        <p:spPr>
          <a:xfrm>
            <a:off x="960120" y="4183180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91E32D-FBA3-9B94-5768-3E7AAEC81DF6}"/>
              </a:ext>
            </a:extLst>
          </p:cNvPr>
          <p:cNvSpPr txBox="1"/>
          <p:nvPr/>
        </p:nvSpPr>
        <p:spPr>
          <a:xfrm>
            <a:off x="1051560" y="4238044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Fill in the Repository name — use something descriptive like </a:t>
            </a:r>
            <a:r>
              <a:rPr lang="en-US" b="1" dirty="0">
                <a:solidFill>
                  <a:srgbClr val="1F3564"/>
                </a:solidFill>
              </a:rPr>
              <a:t>my-</a:t>
            </a:r>
            <a:r>
              <a:rPr lang="en-US" b="1" dirty="0" err="1">
                <a:solidFill>
                  <a:srgbClr val="1F3564"/>
                </a:solidFill>
              </a:rPr>
              <a:t>bmb</a:t>
            </a:r>
            <a:r>
              <a:rPr lang="en-US" b="1" dirty="0">
                <a:solidFill>
                  <a:srgbClr val="1F3564"/>
                </a:solidFill>
              </a:rPr>
              <a:t>-notebooks</a:t>
            </a:r>
            <a:r>
              <a:rPr lang="en-US" b="0" dirty="0">
                <a:solidFill>
                  <a:srgbClr val="1F3564"/>
                </a:solidFill>
              </a:rPr>
              <a:t> or </a:t>
            </a:r>
            <a:r>
              <a:rPr lang="en-US" b="1" dirty="0" err="1">
                <a:solidFill>
                  <a:srgbClr val="1F3564"/>
                </a:solidFill>
              </a:rPr>
              <a:t>bradford</a:t>
            </a:r>
            <a:r>
              <a:rPr lang="en-US" b="1" dirty="0">
                <a:solidFill>
                  <a:srgbClr val="1F3564"/>
                </a:solidFill>
              </a:rPr>
              <a:t>-assay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DA1119-EC55-7EB1-E000-657C0571CCA1}"/>
              </a:ext>
            </a:extLst>
          </p:cNvPr>
          <p:cNvSpPr/>
          <p:nvPr/>
        </p:nvSpPr>
        <p:spPr>
          <a:xfrm>
            <a:off x="365760" y="4843069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F74487-C36A-E22F-111B-6828D6210021}"/>
              </a:ext>
            </a:extLst>
          </p:cNvPr>
          <p:cNvSpPr txBox="1"/>
          <p:nvPr/>
        </p:nvSpPr>
        <p:spPr>
          <a:xfrm>
            <a:off x="365760" y="4888788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47477-F4B1-CE62-B70A-05169ADEAC2A}"/>
              </a:ext>
            </a:extLst>
          </p:cNvPr>
          <p:cNvSpPr/>
          <p:nvPr/>
        </p:nvSpPr>
        <p:spPr>
          <a:xfrm>
            <a:off x="960120" y="4843069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D9FC8-89FE-8F67-6168-49A608B1F9C2}"/>
              </a:ext>
            </a:extLst>
          </p:cNvPr>
          <p:cNvSpPr txBox="1"/>
          <p:nvPr/>
        </p:nvSpPr>
        <p:spPr>
          <a:xfrm>
            <a:off x="1051560" y="4936402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Set visibility — choose </a:t>
            </a:r>
            <a:r>
              <a:rPr lang="en-US" b="1" dirty="0">
                <a:solidFill>
                  <a:srgbClr val="1F3564"/>
                </a:solidFill>
              </a:rPr>
              <a:t>Public</a:t>
            </a:r>
            <a:r>
              <a:rPr lang="en-US" dirty="0">
                <a:solidFill>
                  <a:srgbClr val="1F3564"/>
                </a:solidFill>
              </a:rPr>
              <a:t> so anyone can access your notebooks via the Open in </a:t>
            </a:r>
            <a:r>
              <a:rPr lang="en-US" dirty="0" err="1">
                <a:solidFill>
                  <a:srgbClr val="1F3564"/>
                </a:solidFill>
              </a:rPr>
              <a:t>Colab</a:t>
            </a:r>
            <a:r>
              <a:rPr lang="en-US" dirty="0">
                <a:solidFill>
                  <a:srgbClr val="1F3564"/>
                </a:solidFill>
              </a:rPr>
              <a:t> badge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AD8B41-449B-8F5C-2745-66C875E62F61}"/>
              </a:ext>
            </a:extLst>
          </p:cNvPr>
          <p:cNvSpPr/>
          <p:nvPr/>
        </p:nvSpPr>
        <p:spPr>
          <a:xfrm>
            <a:off x="365760" y="5636489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3AE0F4-5E0D-A2AE-7B20-D6698B23E808}"/>
              </a:ext>
            </a:extLst>
          </p:cNvPr>
          <p:cNvSpPr txBox="1"/>
          <p:nvPr/>
        </p:nvSpPr>
        <p:spPr>
          <a:xfrm>
            <a:off x="365760" y="5682208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F365F2-C8F4-4E42-6017-17530DAB1734}"/>
              </a:ext>
            </a:extLst>
          </p:cNvPr>
          <p:cNvSpPr/>
          <p:nvPr/>
        </p:nvSpPr>
        <p:spPr>
          <a:xfrm>
            <a:off x="960120" y="5502456"/>
            <a:ext cx="10789920" cy="8239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E2C8CF-49C1-D2C6-8777-1CF97A383347}"/>
              </a:ext>
            </a:extLst>
          </p:cNvPr>
          <p:cNvSpPr txBox="1"/>
          <p:nvPr/>
        </p:nvSpPr>
        <p:spPr>
          <a:xfrm>
            <a:off x="1051560" y="5591248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Check </a:t>
            </a:r>
            <a:r>
              <a:rPr lang="en-US" b="1" dirty="0">
                <a:solidFill>
                  <a:srgbClr val="1F3564"/>
                </a:solidFill>
              </a:rPr>
              <a:t>Add a README file </a:t>
            </a:r>
            <a:r>
              <a:rPr lang="en-US" b="0" dirty="0">
                <a:solidFill>
                  <a:srgbClr val="1F3564"/>
                </a:solidFill>
              </a:rPr>
              <a:t>— this creates the front page of your repository automatically, then click </a:t>
            </a:r>
            <a:r>
              <a:rPr lang="en-US" b="1" dirty="0">
                <a:solidFill>
                  <a:srgbClr val="1F3564"/>
                </a:solidFill>
              </a:rPr>
              <a:t>Create repository</a:t>
            </a:r>
            <a:endParaRPr b="1" dirty="0">
              <a:solidFill>
                <a:srgbClr val="1F35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661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B0C4-AE22-4655-B9CB-A874D154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95D593-370D-CF30-337C-62D304F96219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D7C85-0D2B-B0F4-801C-A0CFC4900011}"/>
              </a:ext>
            </a:extLst>
          </p:cNvPr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Walkthrough </a:t>
            </a:r>
            <a:r>
              <a:rPr lang="en-US" sz="3000" b="1" dirty="0">
                <a:solidFill>
                  <a:srgbClr val="FFFFFF"/>
                </a:solidFill>
              </a:rPr>
              <a:t>4</a:t>
            </a:r>
            <a:r>
              <a:rPr sz="3000" b="1" dirty="0">
                <a:solidFill>
                  <a:srgbClr val="FFFFFF"/>
                </a:solidFill>
              </a:rPr>
              <a:t> </a:t>
            </a:r>
            <a:r>
              <a:rPr lang="en-US" sz="3000" b="1" dirty="0">
                <a:solidFill>
                  <a:srgbClr val="FFFFFF"/>
                </a:solidFill>
              </a:rPr>
              <a:t>(Part 2) </a:t>
            </a:r>
            <a:r>
              <a:rPr sz="3000" b="1" dirty="0">
                <a:solidFill>
                  <a:srgbClr val="FFFFFF"/>
                </a:solidFill>
              </a:rPr>
              <a:t>— </a:t>
            </a:r>
            <a:r>
              <a:rPr lang="en-US" sz="3000" b="1" dirty="0">
                <a:solidFill>
                  <a:srgbClr val="FFFFFF"/>
                </a:solidFill>
              </a:rPr>
              <a:t>Saving a New </a:t>
            </a:r>
            <a:r>
              <a:rPr lang="en-US" sz="3000" b="1" dirty="0" err="1">
                <a:solidFill>
                  <a:srgbClr val="FFFFFF"/>
                </a:solidFill>
              </a:rPr>
              <a:t>Colab</a:t>
            </a:r>
            <a:r>
              <a:rPr lang="en-US" sz="3000" b="1" dirty="0">
                <a:solidFill>
                  <a:srgbClr val="FFFFFF"/>
                </a:solidFill>
              </a:rPr>
              <a:t> Notebook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47634-6763-1644-7A80-87BD22DCB7A7}"/>
              </a:ext>
            </a:extLst>
          </p:cNvPr>
          <p:cNvSpPr/>
          <p:nvPr/>
        </p:nvSpPr>
        <p:spPr>
          <a:xfrm>
            <a:off x="9875520" y="109728"/>
            <a:ext cx="210312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CE7E3-DF53-8F6A-C3CC-31C99090F5D3}"/>
              </a:ext>
            </a:extLst>
          </p:cNvPr>
          <p:cNvSpPr txBox="1"/>
          <p:nvPr/>
        </p:nvSpPr>
        <p:spPr>
          <a:xfrm>
            <a:off x="9893808" y="222689"/>
            <a:ext cx="20665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▶  WALKTHROUGH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5AC0E-2653-95A0-5568-5D0F51304426}"/>
              </a:ext>
            </a:extLst>
          </p:cNvPr>
          <p:cNvSpPr txBox="1"/>
          <p:nvPr/>
        </p:nvSpPr>
        <p:spPr>
          <a:xfrm>
            <a:off x="365760" y="1078992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7700"/>
                </a:solidFill>
              </a:rPr>
              <a:t>⚠️  This section requires a GitHub account.  If you don't have one yet, follow along and try this at home.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ABAE03-1EAF-E968-7581-21BA384FA8C2}"/>
              </a:ext>
            </a:extLst>
          </p:cNvPr>
          <p:cNvSpPr/>
          <p:nvPr/>
        </p:nvSpPr>
        <p:spPr>
          <a:xfrm>
            <a:off x="365760" y="1559484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8CB61-6590-7A2A-C4A2-B9555FEDC379}"/>
              </a:ext>
            </a:extLst>
          </p:cNvPr>
          <p:cNvSpPr txBox="1"/>
          <p:nvPr/>
        </p:nvSpPr>
        <p:spPr>
          <a:xfrm>
            <a:off x="365760" y="1605203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957D6D-A4A3-FE12-1ACC-22BC089561B8}"/>
              </a:ext>
            </a:extLst>
          </p:cNvPr>
          <p:cNvSpPr/>
          <p:nvPr/>
        </p:nvSpPr>
        <p:spPr>
          <a:xfrm>
            <a:off x="960120" y="1559484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A2F23-1FB4-A8CB-3631-B9FF88EF4D25}"/>
              </a:ext>
            </a:extLst>
          </p:cNvPr>
          <p:cNvSpPr txBox="1"/>
          <p:nvPr/>
        </p:nvSpPr>
        <p:spPr>
          <a:xfrm>
            <a:off x="1051560" y="1671708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C</a:t>
            </a:r>
            <a:r>
              <a:rPr lang="en-US" b="0" dirty="0">
                <a:solidFill>
                  <a:srgbClr val="1F3564"/>
                </a:solidFill>
              </a:rPr>
              <a:t>reate a notebook in </a:t>
            </a:r>
            <a:r>
              <a:rPr lang="en-US" b="1" dirty="0">
                <a:solidFill>
                  <a:srgbClr val="1F3564"/>
                </a:solidFill>
              </a:rPr>
              <a:t>Google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: </a:t>
            </a:r>
            <a:r>
              <a:rPr lang="en-US" dirty="0">
                <a:solidFill>
                  <a:srgbClr val="1F3564"/>
                </a:solidFill>
              </a:rPr>
              <a:t>Go to </a:t>
            </a:r>
            <a:r>
              <a:rPr lang="en-US" b="1" dirty="0">
                <a:solidFill>
                  <a:srgbClr val="1F3564"/>
                </a:solidFill>
              </a:rPr>
              <a:t>https://</a:t>
            </a:r>
            <a:r>
              <a:rPr lang="en-US" b="1" dirty="0" err="1">
                <a:solidFill>
                  <a:srgbClr val="1F3564"/>
                </a:solidFill>
              </a:rPr>
              <a:t>colab.research.google.com</a:t>
            </a:r>
            <a:r>
              <a:rPr lang="en-US" b="1" dirty="0">
                <a:solidFill>
                  <a:srgbClr val="1F3564"/>
                </a:solidFill>
              </a:rPr>
              <a:t>/ </a:t>
            </a:r>
            <a:r>
              <a:rPr lang="en-US" dirty="0">
                <a:solidFill>
                  <a:srgbClr val="1F3564"/>
                </a:solidFill>
              </a:rPr>
              <a:t>and click 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395707-4287-DF10-E239-97495CE14C02}"/>
              </a:ext>
            </a:extLst>
          </p:cNvPr>
          <p:cNvSpPr/>
          <p:nvPr/>
        </p:nvSpPr>
        <p:spPr>
          <a:xfrm>
            <a:off x="365760" y="225911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4F0E2-F05C-590D-DD85-3BA672F0EF00}"/>
              </a:ext>
            </a:extLst>
          </p:cNvPr>
          <p:cNvSpPr txBox="1"/>
          <p:nvPr/>
        </p:nvSpPr>
        <p:spPr>
          <a:xfrm>
            <a:off x="365760" y="2304835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0F19B1-3767-7507-8DC3-AB5597593C14}"/>
              </a:ext>
            </a:extLst>
          </p:cNvPr>
          <p:cNvSpPr/>
          <p:nvPr/>
        </p:nvSpPr>
        <p:spPr>
          <a:xfrm>
            <a:off x="960120" y="2217851"/>
            <a:ext cx="10789920" cy="710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878DB-AB1E-CD55-FD50-BF5BB7BFACA4}"/>
              </a:ext>
            </a:extLst>
          </p:cNvPr>
          <p:cNvSpPr/>
          <p:nvPr/>
        </p:nvSpPr>
        <p:spPr>
          <a:xfrm>
            <a:off x="365760" y="2940018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9E7149-DF3C-28EE-B718-EA45A24F539E}"/>
              </a:ext>
            </a:extLst>
          </p:cNvPr>
          <p:cNvSpPr txBox="1"/>
          <p:nvPr/>
        </p:nvSpPr>
        <p:spPr>
          <a:xfrm>
            <a:off x="365760" y="2985737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9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B8B3BB-0EF8-3F06-CDDF-58690E667AB4}"/>
              </a:ext>
            </a:extLst>
          </p:cNvPr>
          <p:cNvSpPr/>
          <p:nvPr/>
        </p:nvSpPr>
        <p:spPr>
          <a:xfrm>
            <a:off x="960120" y="2938498"/>
            <a:ext cx="1078992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7CB37-3646-92FB-857F-35ECEB252E1A}"/>
              </a:ext>
            </a:extLst>
          </p:cNvPr>
          <p:cNvSpPr/>
          <p:nvPr/>
        </p:nvSpPr>
        <p:spPr>
          <a:xfrm>
            <a:off x="365760" y="3598386"/>
            <a:ext cx="502920" cy="56692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0106D-786C-C730-0B49-E367A8FCD18C}"/>
              </a:ext>
            </a:extLst>
          </p:cNvPr>
          <p:cNvSpPr txBox="1"/>
          <p:nvPr/>
        </p:nvSpPr>
        <p:spPr>
          <a:xfrm>
            <a:off x="365760" y="364410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10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01F0D-E109-BF7F-607A-E2E38CCDB0A7}"/>
              </a:ext>
            </a:extLst>
          </p:cNvPr>
          <p:cNvSpPr/>
          <p:nvPr/>
        </p:nvSpPr>
        <p:spPr>
          <a:xfrm>
            <a:off x="960120" y="3598386"/>
            <a:ext cx="10789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E665F2-1ACF-1538-A1E5-A3E26CD88D57}"/>
              </a:ext>
            </a:extLst>
          </p:cNvPr>
          <p:cNvSpPr/>
          <p:nvPr/>
        </p:nvSpPr>
        <p:spPr>
          <a:xfrm>
            <a:off x="365760" y="4256755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1C206-BE88-46D6-E9D1-B258F57C3264}"/>
              </a:ext>
            </a:extLst>
          </p:cNvPr>
          <p:cNvSpPr txBox="1"/>
          <p:nvPr/>
        </p:nvSpPr>
        <p:spPr>
          <a:xfrm>
            <a:off x="365760" y="4302474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11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8D2159-6593-A8A7-8E16-4CF425FE6E13}"/>
              </a:ext>
            </a:extLst>
          </p:cNvPr>
          <p:cNvSpPr/>
          <p:nvPr/>
        </p:nvSpPr>
        <p:spPr>
          <a:xfrm>
            <a:off x="960120" y="4258275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B48FD3-21EF-DE5D-1A66-09B6941E32B6}"/>
              </a:ext>
            </a:extLst>
          </p:cNvPr>
          <p:cNvSpPr/>
          <p:nvPr/>
        </p:nvSpPr>
        <p:spPr>
          <a:xfrm>
            <a:off x="365760" y="4975351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6B5D0-8314-D1C9-B06D-C1ABA01B1546}"/>
              </a:ext>
            </a:extLst>
          </p:cNvPr>
          <p:cNvSpPr txBox="1"/>
          <p:nvPr/>
        </p:nvSpPr>
        <p:spPr>
          <a:xfrm>
            <a:off x="365760" y="5021070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12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8D1174-A387-3E07-A101-395F9B73B1B7}"/>
              </a:ext>
            </a:extLst>
          </p:cNvPr>
          <p:cNvSpPr/>
          <p:nvPr/>
        </p:nvSpPr>
        <p:spPr>
          <a:xfrm>
            <a:off x="960120" y="4975350"/>
            <a:ext cx="10789920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57DD23-878A-147B-8664-8EBF39A1A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445" y="1595807"/>
            <a:ext cx="1695554" cy="49197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96A77FE-FC1E-579A-BAA8-C60AF6F08FEE}"/>
              </a:ext>
            </a:extLst>
          </p:cNvPr>
          <p:cNvSpPr txBox="1"/>
          <p:nvPr/>
        </p:nvSpPr>
        <p:spPr>
          <a:xfrm>
            <a:off x="1051560" y="2206794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Rename your notebook to something informative (e.g., “</a:t>
            </a:r>
            <a:r>
              <a:rPr lang="en-US" b="0" dirty="0" err="1">
                <a:solidFill>
                  <a:srgbClr val="1F3564"/>
                </a:solidFill>
              </a:rPr>
              <a:t>Linear_Regression.ipynb</a:t>
            </a:r>
            <a:r>
              <a:rPr lang="en-US" b="0" dirty="0">
                <a:solidFill>
                  <a:srgbClr val="1F3564"/>
                </a:solidFill>
              </a:rPr>
              <a:t>”) by </a:t>
            </a:r>
            <a:r>
              <a:rPr lang="en-US" b="1" dirty="0">
                <a:solidFill>
                  <a:srgbClr val="1F3564"/>
                </a:solidFill>
              </a:rPr>
              <a:t>clicking “Untitled1.ipynb” </a:t>
            </a:r>
            <a:r>
              <a:rPr lang="en-US" b="0" dirty="0">
                <a:solidFill>
                  <a:srgbClr val="1F3564"/>
                </a:solidFill>
              </a:rPr>
              <a:t>at the top left of the screen. Keep the .</a:t>
            </a:r>
            <a:r>
              <a:rPr lang="en-US" b="0" dirty="0" err="1">
                <a:solidFill>
                  <a:srgbClr val="1F3564"/>
                </a:solidFill>
              </a:rPr>
              <a:t>ipynb</a:t>
            </a:r>
            <a:r>
              <a:rPr lang="en-US" b="0" dirty="0">
                <a:solidFill>
                  <a:srgbClr val="1F3564"/>
                </a:solidFill>
              </a:rPr>
              <a:t> extension.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E6B22-97E8-F83F-6D0F-4FC3441F4740}"/>
              </a:ext>
            </a:extLst>
          </p:cNvPr>
          <p:cNvSpPr txBox="1"/>
          <p:nvPr/>
        </p:nvSpPr>
        <p:spPr>
          <a:xfrm>
            <a:off x="1051560" y="3028199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Go to </a:t>
            </a:r>
            <a:r>
              <a:rPr lang="en-US" b="1" dirty="0">
                <a:solidFill>
                  <a:srgbClr val="1F3564"/>
                </a:solidFill>
              </a:rPr>
              <a:t>File → Save a copy in GitHub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3C3F3-F8D7-238E-3524-EBA250C063FD}"/>
              </a:ext>
            </a:extLst>
          </p:cNvPr>
          <p:cNvSpPr txBox="1"/>
          <p:nvPr/>
        </p:nvSpPr>
        <p:spPr>
          <a:xfrm>
            <a:off x="1051560" y="3700692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The first time you do this, GitHub will ask you to </a:t>
            </a:r>
            <a:r>
              <a:rPr lang="en-US" b="1" dirty="0">
                <a:solidFill>
                  <a:srgbClr val="1F3564"/>
                </a:solidFill>
              </a:rPr>
              <a:t>authorize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1" dirty="0">
                <a:solidFill>
                  <a:srgbClr val="1F3564"/>
                </a:solidFill>
              </a:rPr>
              <a:t> — click Authorize and sign in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41662-EBB6-4C3B-835F-EC89F53998F9}"/>
              </a:ext>
            </a:extLst>
          </p:cNvPr>
          <p:cNvSpPr txBox="1"/>
          <p:nvPr/>
        </p:nvSpPr>
        <p:spPr>
          <a:xfrm>
            <a:off x="1051560" y="4333445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 the dialog box that appears, select your </a:t>
            </a:r>
            <a:r>
              <a:rPr lang="en-US" b="1" dirty="0">
                <a:solidFill>
                  <a:srgbClr val="1F3564"/>
                </a:solidFill>
              </a:rPr>
              <a:t>repository</a:t>
            </a:r>
            <a:r>
              <a:rPr lang="en-US" b="0" dirty="0">
                <a:solidFill>
                  <a:srgbClr val="1F3564"/>
                </a:solidFill>
              </a:rPr>
              <a:t> from the dropdown</a:t>
            </a:r>
            <a:endParaRPr b="1" dirty="0">
              <a:solidFill>
                <a:srgbClr val="1F3564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165FF0-F963-8CC6-B490-F2B5192450AC}"/>
              </a:ext>
            </a:extLst>
          </p:cNvPr>
          <p:cNvSpPr txBox="1"/>
          <p:nvPr/>
        </p:nvSpPr>
        <p:spPr>
          <a:xfrm>
            <a:off x="960120" y="4919319"/>
            <a:ext cx="1056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564"/>
                </a:solidFill>
              </a:rPr>
              <a:t>Confirm the branch is set to </a:t>
            </a:r>
            <a:r>
              <a:rPr lang="en-US" b="1" dirty="0">
                <a:solidFill>
                  <a:srgbClr val="1F3564"/>
                </a:solidFill>
              </a:rPr>
              <a:t>main </a:t>
            </a:r>
            <a:r>
              <a:rPr lang="en-US" dirty="0">
                <a:solidFill>
                  <a:srgbClr val="1F3564"/>
                </a:solidFill>
              </a:rPr>
              <a:t>and add a short </a:t>
            </a:r>
            <a:r>
              <a:rPr lang="en-US" b="1" dirty="0">
                <a:solidFill>
                  <a:srgbClr val="1F3564"/>
                </a:solidFill>
              </a:rPr>
              <a:t>commit message </a:t>
            </a:r>
            <a:r>
              <a:rPr lang="en-US" dirty="0">
                <a:solidFill>
                  <a:srgbClr val="1F3564"/>
                </a:solidFill>
              </a:rPr>
              <a:t>describing what you saved (e.g., "Add Bradford assay notebook")</a:t>
            </a:r>
            <a:endParaRPr dirty="0">
              <a:solidFill>
                <a:srgbClr val="1F356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5A80B6-9A8C-26D0-34B2-E3D1FB5B915B}"/>
              </a:ext>
            </a:extLst>
          </p:cNvPr>
          <p:cNvSpPr/>
          <p:nvPr/>
        </p:nvSpPr>
        <p:spPr>
          <a:xfrm>
            <a:off x="365760" y="5715797"/>
            <a:ext cx="50292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44270-6A80-F03A-9863-6CF052CA2DA0}"/>
              </a:ext>
            </a:extLst>
          </p:cNvPr>
          <p:cNvSpPr/>
          <p:nvPr/>
        </p:nvSpPr>
        <p:spPr>
          <a:xfrm>
            <a:off x="960120" y="5717317"/>
            <a:ext cx="10789920" cy="5654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487FDB-8E9F-A3D4-575B-52CEB6C42813}"/>
              </a:ext>
            </a:extLst>
          </p:cNvPr>
          <p:cNvSpPr txBox="1"/>
          <p:nvPr/>
        </p:nvSpPr>
        <p:spPr>
          <a:xfrm>
            <a:off x="365760" y="5761516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13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9CB34C-EC0F-5EE8-68F2-B4DD6BA9B6A6}"/>
              </a:ext>
            </a:extLst>
          </p:cNvPr>
          <p:cNvSpPr txBox="1"/>
          <p:nvPr/>
        </p:nvSpPr>
        <p:spPr>
          <a:xfrm>
            <a:off x="1051560" y="5818833"/>
            <a:ext cx="10561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Ensure </a:t>
            </a:r>
            <a:r>
              <a:rPr lang="en-US" b="1" dirty="0">
                <a:solidFill>
                  <a:srgbClr val="1F3564"/>
                </a:solidFill>
              </a:rPr>
              <a:t>Include a link to </a:t>
            </a:r>
            <a:r>
              <a:rPr lang="en-US" b="1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is checked and </a:t>
            </a:r>
            <a:r>
              <a:rPr lang="en-US" dirty="0">
                <a:solidFill>
                  <a:srgbClr val="1F3564"/>
                </a:solidFill>
              </a:rPr>
              <a:t>c</a:t>
            </a:r>
            <a:r>
              <a:rPr lang="en-US" b="0" dirty="0">
                <a:solidFill>
                  <a:srgbClr val="1F3564"/>
                </a:solidFill>
              </a:rPr>
              <a:t>lick </a:t>
            </a:r>
            <a:r>
              <a:rPr lang="en-US" b="1" dirty="0">
                <a:solidFill>
                  <a:srgbClr val="1F3564"/>
                </a:solidFill>
              </a:rPr>
              <a:t>OK</a:t>
            </a:r>
            <a:r>
              <a:rPr lang="en-US" b="0" dirty="0">
                <a:solidFill>
                  <a:srgbClr val="1F3564"/>
                </a:solidFill>
              </a:rPr>
              <a:t> — your notebook is now saved to GitHub</a:t>
            </a:r>
            <a:endParaRPr b="1" dirty="0">
              <a:solidFill>
                <a:srgbClr val="1F35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58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Saving Your Work — Three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After working in a </a:t>
            </a:r>
            <a:r>
              <a:rPr b="1" dirty="0" err="1">
                <a:solidFill>
                  <a:srgbClr val="2E75B6"/>
                </a:solidFill>
              </a:rPr>
              <a:t>Colab</a:t>
            </a:r>
            <a:r>
              <a:rPr b="1" dirty="0">
                <a:solidFill>
                  <a:srgbClr val="2E75B6"/>
                </a:solidFill>
              </a:rPr>
              <a:t> notebook, you have three ways to save your work: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64208"/>
            <a:ext cx="365760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Save to Google Drive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Drive</a:t>
            </a:r>
            <a:r>
              <a:rPr lang="en-US" b="0" dirty="0">
                <a:solidFill>
                  <a:srgbClr val="1F3564"/>
                </a:solidFill>
              </a:rPr>
              <a:t>
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5276088"/>
            <a:ext cx="3657600" cy="7132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most participants
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64208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Save to GitHub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Save a copy in GitHub
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276088"/>
            <a:ext cx="3657600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5321808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for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664208"/>
            <a:ext cx="3657600" cy="5029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691640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Option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212848"/>
            <a:ext cx="3657600" cy="411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8138160" y="22402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Download the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670048"/>
            <a:ext cx="3657600" cy="25603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File → Download → </a:t>
            </a:r>
            <a:endParaRPr lang="en-US" b="0" dirty="0">
              <a:solidFill>
                <a:srgbClr val="1F3564"/>
              </a:solidFill>
            </a:endParaRPr>
          </a:p>
          <a:p>
            <a:pPr algn="l"/>
            <a:r>
              <a:rPr lang="en-US" dirty="0">
                <a:solidFill>
                  <a:srgbClr val="1F3564"/>
                </a:solidFill>
              </a:rPr>
              <a:t>			</a:t>
            </a:r>
            <a:r>
              <a:rPr b="0" dirty="0">
                <a:solidFill>
                  <a:srgbClr val="1F3564"/>
                </a:solidFill>
              </a:rPr>
              <a:t>Download .</a:t>
            </a:r>
            <a:r>
              <a:rPr b="0" dirty="0" err="1">
                <a:solidFill>
                  <a:srgbClr val="1F3564"/>
                </a:solidFill>
              </a:rPr>
              <a:t>ipynb</a:t>
            </a:r>
            <a:r>
              <a:rPr b="0" dirty="0">
                <a:solidFill>
                  <a:srgbClr val="1F3564"/>
                </a:solidFill>
              </a:rPr>
              <a:t>
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276088"/>
            <a:ext cx="3657600" cy="7132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5321808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✅  Best as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b="1" dirty="0">
                <a:solidFill>
                  <a:srgbClr val="FFFFFF"/>
                </a:solidFill>
              </a:rPr>
              <a:t>a backup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074D7C-47F4-BF78-47DF-C46684AF0F72}"/>
              </a:ext>
            </a:extLst>
          </p:cNvPr>
          <p:cNvSpPr txBox="1"/>
          <p:nvPr/>
        </p:nvSpPr>
        <p:spPr>
          <a:xfrm>
            <a:off x="365760" y="3232336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1F3564"/>
                </a:solidFill>
              </a:rPr>
              <a:t>No GitHub account needed
Saves to your </a:t>
            </a:r>
            <a:r>
              <a:rPr lang="en-US" b="0" dirty="0" err="1">
                <a:solidFill>
                  <a:srgbClr val="1F3564"/>
                </a:solidFill>
              </a:rPr>
              <a:t>Colab</a:t>
            </a:r>
            <a:r>
              <a:rPr lang="en-US" b="0" dirty="0">
                <a:solidFill>
                  <a:srgbClr val="1F3564"/>
                </a:solidFill>
              </a:rPr>
              <a:t> Notebooks folder
Best for personal work and quick saves
Recommended for beginners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78D4DB-1B93-759D-2DE4-23B6D659846B}"/>
              </a:ext>
            </a:extLst>
          </p:cNvPr>
          <p:cNvSpPr txBox="1"/>
          <p:nvPr/>
        </p:nvSpPr>
        <p:spPr>
          <a:xfrm>
            <a:off x="4297679" y="3128973"/>
            <a:ext cx="3474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GitHub account required
Saves directly to your forked repository
Creates a commit with a message
Best for sharing and version control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9C5C3-8B03-6F15-C4E3-B5E760A221A4}"/>
              </a:ext>
            </a:extLst>
          </p:cNvPr>
          <p:cNvSpPr txBox="1"/>
          <p:nvPr/>
        </p:nvSpPr>
        <p:spPr>
          <a:xfrm>
            <a:off x="8229600" y="3367506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No account needed
Saves a local copy to your computer
Can be re-uploaded to </a:t>
            </a:r>
            <a:r>
              <a:rPr b="0" dirty="0" err="1">
                <a:solidFill>
                  <a:srgbClr val="1F3564"/>
                </a:solidFill>
              </a:rPr>
              <a:t>Colab</a:t>
            </a:r>
            <a:r>
              <a:rPr b="0" dirty="0">
                <a:solidFill>
                  <a:srgbClr val="1F3564"/>
                </a:solidFill>
              </a:rPr>
              <a:t> later
Best as a 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GitHub as a Scientific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34" y="1151193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75B6"/>
                </a:solidFill>
              </a:rPr>
              <a:t>GitHub is not just for software engineers — it is increasingly the standard for open science: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394" y="1727818"/>
            <a:ext cx="1264255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6394" y="1995018"/>
            <a:ext cx="12642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4" y="2409605"/>
            <a:ext cx="126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Lab notebook
for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2091" y="1727818"/>
            <a:ext cx="4450743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5493" y="1864978"/>
            <a:ext cx="42859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Every change is recorded with who made it and when.
Full history of your analysis — reviewers and collaborators can see exactly
what you did and when.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715" y="1727818"/>
            <a:ext cx="1261872" cy="1920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5962" y="199501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714" y="2409605"/>
            <a:ext cx="1261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Sharing with
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9029" y="172781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0468" y="1864978"/>
            <a:ext cx="4288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Post a repository for a course — students fork it, work in their own copy,
and submit via GitHub or Google Drive.
No emailing notebooks back and forth.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395" y="3968098"/>
            <a:ext cx="1261872" cy="19202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5847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393" y="4807340"/>
            <a:ext cx="1261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Open science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9706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1146" y="4105258"/>
            <a:ext cx="42885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F3564"/>
                </a:solidFill>
              </a:rPr>
              <a:t>Publish your analysis code alongside your paper.
Readers can reproduce your results exactly.
Journals increasingly require this.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715" y="3968098"/>
            <a:ext cx="1261872" cy="19202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5169" y="4239276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715" y="4699618"/>
            <a:ext cx="126187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Community
and </a:t>
            </a:r>
            <a:r>
              <a:rPr sz="1400" b="1" dirty="0">
                <a:solidFill>
                  <a:srgbClr val="FFFFFF"/>
                </a:solidFill>
              </a:rPr>
              <a:t>collaboration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39029" y="3968098"/>
            <a:ext cx="4453128" cy="1920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0468" y="4105258"/>
            <a:ext cx="42885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3564"/>
                </a:solidFill>
              </a:rPr>
              <a:t>The </a:t>
            </a:r>
            <a:r>
              <a:rPr sz="2000" b="0" dirty="0" err="1">
                <a:solidFill>
                  <a:srgbClr val="1F3564"/>
                </a:solidFill>
              </a:rPr>
              <a:t>PyBMB</a:t>
            </a:r>
            <a:r>
              <a:rPr sz="2000" b="0" dirty="0">
                <a:solidFill>
                  <a:srgbClr val="1F3564"/>
                </a:solidFill>
              </a:rPr>
              <a:t> community shares notebooks on GitHub.
Fork a notebook, improve it, and share it back.
Living documents that stay current.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You Can Do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484" y="1281697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Navigate any public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483" y="2072406"/>
            <a:ext cx="11247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Open any notebook in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— with or without an Open in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136" y="3653824"/>
            <a:ext cx="1039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</a:t>
            </a:r>
            <a:r>
              <a:rPr lang="en-US" sz="2800" b="0" dirty="0">
                <a:solidFill>
                  <a:srgbClr val="FFFFFF"/>
                </a:solidFill>
              </a:rPr>
              <a:t>Create your own repository and save a new </a:t>
            </a:r>
            <a:r>
              <a:rPr lang="en-US" sz="2800" b="0" dirty="0" err="1">
                <a:solidFill>
                  <a:srgbClr val="FFFFFF"/>
                </a:solidFill>
              </a:rPr>
              <a:t>Colab</a:t>
            </a:r>
            <a:r>
              <a:rPr lang="en-US" sz="2800" b="0" dirty="0">
                <a:solidFill>
                  <a:srgbClr val="FFFFFF"/>
                </a:solidFill>
              </a:rPr>
              <a:t> notebook to it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484" y="4444533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Save your work to Google Drive</a:t>
            </a:r>
            <a:r>
              <a:rPr lang="en-US" sz="2800" b="0" dirty="0">
                <a:solidFill>
                  <a:srgbClr val="FFFFFF"/>
                </a:solidFill>
              </a:rPr>
              <a:t> or back to GitHub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484" y="2863115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✅</a:t>
            </a:r>
            <a:r>
              <a:rPr sz="2800" b="0" dirty="0">
                <a:solidFill>
                  <a:srgbClr val="BDD7EE"/>
                </a:solidFill>
              </a:rPr>
              <a:t>   </a:t>
            </a:r>
            <a:r>
              <a:rPr sz="2800" b="0" dirty="0">
                <a:solidFill>
                  <a:schemeClr val="bg1"/>
                </a:solidFill>
              </a:rPr>
              <a:t>Fork the </a:t>
            </a:r>
            <a:r>
              <a:rPr lang="en-US" sz="2800" b="0" dirty="0">
                <a:solidFill>
                  <a:schemeClr val="bg1"/>
                </a:solidFill>
              </a:rPr>
              <a:t>May26_c</a:t>
            </a:r>
            <a:r>
              <a:rPr sz="2800" b="0" dirty="0">
                <a:solidFill>
                  <a:schemeClr val="bg1"/>
                </a:solidFill>
              </a:rPr>
              <a:t>odeBMB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55203"/>
            <a:ext cx="112471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40080" y="5449822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Workshop repository:  </a:t>
            </a:r>
            <a:r>
              <a:rPr b="0" dirty="0" err="1">
                <a:solidFill>
                  <a:srgbClr val="FFFFFF"/>
                </a:solidFill>
              </a:rPr>
              <a:t>github.com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b="0" dirty="0" err="1">
                <a:solidFill>
                  <a:srgbClr val="FFFFFF"/>
                </a:solidFill>
              </a:rPr>
              <a:t>codeBMB</a:t>
            </a:r>
            <a:r>
              <a:rPr b="0" dirty="0">
                <a:solidFill>
                  <a:srgbClr val="FFFFFF"/>
                </a:solidFill>
              </a:rPr>
              <a:t>/</a:t>
            </a:r>
            <a:r>
              <a:rPr lang="en-US" b="0" dirty="0">
                <a:solidFill>
                  <a:srgbClr val="FFFFFF"/>
                </a:solidFill>
              </a:rPr>
              <a:t>May</a:t>
            </a:r>
            <a:r>
              <a:rPr b="0" dirty="0">
                <a:solidFill>
                  <a:srgbClr val="FFFFFF"/>
                </a:solidFill>
              </a:rPr>
              <a:t>26_</a:t>
            </a:r>
            <a:r>
              <a:rPr lang="en-US" b="0" dirty="0">
                <a:solidFill>
                  <a:srgbClr val="FFFFFF"/>
                </a:solidFill>
              </a:rPr>
              <a:t>codeBMB</a:t>
            </a:r>
            <a:r>
              <a:rPr b="0" dirty="0">
                <a:solidFill>
                  <a:srgbClr val="FFFFFF"/>
                </a:solidFill>
              </a:rPr>
              <a:t>
Create a free GitHub account at:  </a:t>
            </a:r>
            <a:r>
              <a:rPr b="0" dirty="0" err="1">
                <a:solidFill>
                  <a:srgbClr val="FFFFFF"/>
                </a:solidFill>
              </a:rPr>
              <a:t>github.com</a:t>
            </a:r>
            <a:endParaRPr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009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</a:rPr>
              <a:t>Pro tip </a:t>
            </a:r>
            <a:r>
              <a:rPr sz="3000" b="1" dirty="0">
                <a:solidFill>
                  <a:srgbClr val="FFFFFF"/>
                </a:solidFill>
              </a:rPr>
              <a:t>— Build Your Own Open in </a:t>
            </a:r>
            <a:r>
              <a:rPr sz="3000" b="1" dirty="0" err="1">
                <a:solidFill>
                  <a:srgbClr val="FFFFFF"/>
                </a:solidFill>
              </a:rPr>
              <a:t>Colab</a:t>
            </a:r>
            <a:r>
              <a:rPr sz="3000" b="1" dirty="0">
                <a:solidFill>
                  <a:srgbClr val="FFFFFF"/>
                </a:solidFill>
              </a:rPr>
              <a:t> Badge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05744"/>
            <a:ext cx="1051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Once you have your own GitHub repository, you can add an </a:t>
            </a:r>
            <a:r>
              <a:rPr lang="en-US" b="0" dirty="0">
                <a:solidFill>
                  <a:srgbClr val="404040"/>
                </a:solidFill>
              </a:rPr>
              <a:t>"</a:t>
            </a:r>
            <a:r>
              <a:rPr b="0" dirty="0">
                <a:solidFill>
                  <a:srgbClr val="404040"/>
                </a:solidFill>
              </a:rPr>
              <a:t>Open in </a:t>
            </a:r>
            <a:r>
              <a:rPr b="0" dirty="0" err="1">
                <a:solidFill>
                  <a:srgbClr val="404040"/>
                </a:solidFill>
              </a:rPr>
              <a:t>Colab</a:t>
            </a:r>
            <a:r>
              <a:rPr lang="en-US" b="0" dirty="0">
                <a:solidFill>
                  <a:srgbClr val="404040"/>
                </a:solidFill>
              </a:rPr>
              <a:t>"</a:t>
            </a:r>
            <a:r>
              <a:rPr b="0" dirty="0">
                <a:solidFill>
                  <a:srgbClr val="404040"/>
                </a:solidFill>
              </a:rPr>
              <a:t> button to any notebook</a:t>
            </a:r>
            <a:r>
              <a:rPr lang="en-US" b="0" dirty="0">
                <a:solidFill>
                  <a:srgbClr val="404040"/>
                </a:solidFill>
              </a:rPr>
              <a:t>.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510083"/>
            <a:ext cx="11430000" cy="1417320"/>
          </a:xfrm>
          <a:prstGeom prst="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7018" y="1540300"/>
            <a:ext cx="1124712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b="0" dirty="0">
                <a:solidFill>
                  <a:srgbClr val="70AD47"/>
                </a:solidFill>
              </a:rPr>
              <a:t>[![Open In </a:t>
            </a:r>
            <a:r>
              <a:rPr b="0" dirty="0" err="1">
                <a:solidFill>
                  <a:srgbClr val="70AD47"/>
                </a:solidFill>
              </a:rPr>
              <a:t>Colab</a:t>
            </a:r>
            <a:r>
              <a:rPr b="0" dirty="0">
                <a:solidFill>
                  <a:srgbClr val="70AD47"/>
                </a:solidFill>
              </a:rPr>
              <a:t>]</a:t>
            </a:r>
            <a:endParaRPr lang="en-US" b="0" dirty="0">
              <a:solidFill>
                <a:srgbClr val="70AD47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(https://</a:t>
            </a:r>
            <a:r>
              <a:rPr lang="en-US" dirty="0" err="1">
                <a:solidFill>
                  <a:srgbClr val="FFFFFF"/>
                </a:solidFill>
              </a:rPr>
              <a:t>colab.research.google.com</a:t>
            </a:r>
            <a:r>
              <a:rPr lang="en-US" dirty="0">
                <a:solidFill>
                  <a:srgbClr val="FFFFFF"/>
                </a:solidFill>
              </a:rPr>
              <a:t>/assets/</a:t>
            </a:r>
            <a:r>
              <a:rPr lang="en-US" dirty="0" err="1">
                <a:solidFill>
                  <a:srgbClr val="FFFFFF"/>
                </a:solidFill>
              </a:rPr>
              <a:t>colab-badge.svg</a:t>
            </a:r>
            <a:r>
              <a:rPr lang="en-US" dirty="0">
                <a:solidFill>
                  <a:srgbClr val="FFFFFF"/>
                </a:solidFill>
              </a:rPr>
              <a:t>)]</a:t>
            </a:r>
            <a:endParaRPr lang="en-US" b="0" dirty="0">
              <a:solidFill>
                <a:srgbClr val="70AD47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(https://</a:t>
            </a:r>
            <a:r>
              <a:rPr lang="en-US" dirty="0" err="1">
                <a:solidFill>
                  <a:srgbClr val="FFFFFF"/>
                </a:solidFill>
              </a:rPr>
              <a:t>colab.research.google.com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FFFFFF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USERNAME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>
                <a:solidFill>
                  <a:srgbClr val="00B050"/>
                </a:solidFill>
              </a:rPr>
              <a:t>REPO</a:t>
            </a:r>
            <a:r>
              <a:rPr lang="en-US" dirty="0">
                <a:solidFill>
                  <a:schemeClr val="bg1"/>
                </a:solidFill>
              </a:rPr>
              <a:t>/blob/</a:t>
            </a:r>
            <a:r>
              <a:rPr lang="en-US" dirty="0">
                <a:solidFill>
                  <a:srgbClr val="FF7700"/>
                </a:solidFill>
              </a:rPr>
              <a:t>BRANCH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rgbClr val="BDD7EE"/>
                </a:solidFill>
              </a:rPr>
              <a:t>NOTEBOOK.ipynb</a:t>
            </a:r>
            <a:r>
              <a:rPr lang="en-US" dirty="0">
                <a:solidFill>
                  <a:srgbClr val="BDD7EE"/>
                </a:solidFill>
              </a:rPr>
              <a:t>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315704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75B6"/>
                </a:solidFill>
              </a:rPr>
              <a:t>What to replace: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32534"/>
            <a:ext cx="219456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11480" y="3669110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USERNAME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66911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Your GitHub 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69110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e.g.:  codeBMB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08022"/>
            <a:ext cx="219456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11480" y="4144598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14459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Your repository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144598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70AD47"/>
                </a:solidFill>
              </a:rPr>
              <a:t>e.g.:  April26_Rutgers-RCSB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83510"/>
            <a:ext cx="2194560" cy="4114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11480" y="4620086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620086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Almost always: 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620086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7700"/>
                </a:solidFill>
              </a:rPr>
              <a:t>e.g.:  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58997"/>
            <a:ext cx="219456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411480" y="5095573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NOTEBOOK.ipynb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09557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04040"/>
                </a:solidFill>
              </a:rPr>
              <a:t>Exact filename including path if in a folder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733" y="5094177"/>
            <a:ext cx="4305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kern="0" dirty="0">
                <a:solidFill>
                  <a:srgbClr val="9EB4C7"/>
                </a:solidFill>
              </a:rPr>
              <a:t>e.g.:  </a:t>
            </a:r>
            <a:r>
              <a:rPr lang="en-US" b="1" kern="0" dirty="0">
                <a:solidFill>
                  <a:srgbClr val="9EB4C7"/>
                </a:solidFill>
              </a:rPr>
              <a:t>001_Intro_to_Google_Colab.ipynb</a:t>
            </a:r>
            <a:endParaRPr b="1" kern="0" dirty="0">
              <a:solidFill>
                <a:srgbClr val="9EB4C7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5687949"/>
            <a:ext cx="11430000" cy="69318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502919" y="5724525"/>
            <a:ext cx="112312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3564"/>
                </a:solidFill>
              </a:rPr>
              <a:t>💡  Shortcut: copy the URL of your notebook from the browser bar and replace </a:t>
            </a:r>
            <a:r>
              <a:rPr sz="1600" b="1" dirty="0" err="1">
                <a:solidFill>
                  <a:srgbClr val="1F3564"/>
                </a:solidFill>
              </a:rPr>
              <a:t>github.com</a:t>
            </a:r>
            <a:r>
              <a:rPr sz="1600" b="1" dirty="0">
                <a:solidFill>
                  <a:srgbClr val="1F3564"/>
                </a:solidFill>
              </a:rPr>
              <a:t> with </a:t>
            </a:r>
            <a:r>
              <a:rPr sz="1600" b="1" dirty="0" err="1">
                <a:solidFill>
                  <a:srgbClr val="1F3564"/>
                </a:solidFill>
              </a:rPr>
              <a:t>colab.research.google.com</a:t>
            </a:r>
            <a:r>
              <a:rPr sz="1600" b="1" dirty="0">
                <a:solidFill>
                  <a:srgbClr val="1F3564"/>
                </a:solidFill>
              </a:rPr>
              <a:t>/</a:t>
            </a:r>
            <a:r>
              <a:rPr sz="1600" b="1" dirty="0" err="1">
                <a:solidFill>
                  <a:srgbClr val="1F3564"/>
                </a:solidFill>
              </a:rPr>
              <a:t>github</a:t>
            </a:r>
            <a:endParaRPr lang="en-US" sz="1600" b="1" dirty="0">
              <a:solidFill>
                <a:srgbClr val="1F3564"/>
              </a:solidFill>
            </a:endParaRPr>
          </a:p>
          <a:p>
            <a:pPr algn="l"/>
            <a:r>
              <a:rPr lang="en-US" sz="1600" b="1" dirty="0">
                <a:solidFill>
                  <a:srgbClr val="1F3564"/>
                </a:solidFill>
              </a:rPr>
              <a:t>	</a:t>
            </a:r>
            <a:r>
              <a:rPr lang="en-US" sz="1600" b="1" u="sng" dirty="0">
                <a:solidFill>
                  <a:srgbClr val="1F3564"/>
                </a:solidFill>
              </a:rPr>
              <a:t>N.B. Must be all on one line in the notebook.</a:t>
            </a:r>
            <a:endParaRPr sz="1600" b="1" u="sng" dirty="0">
              <a:solidFill>
                <a:srgbClr val="1F356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1970</Words>
  <Application>Microsoft Macintosh PowerPoint</Application>
  <PresentationFormat>Custom</PresentationFormat>
  <Paragraphs>226</Paragraphs>
  <Slides>18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23</cp:revision>
  <dcterms:created xsi:type="dcterms:W3CDTF">2013-01-27T09:14:16Z</dcterms:created>
  <dcterms:modified xsi:type="dcterms:W3CDTF">2026-05-19T17:15:02Z</dcterms:modified>
  <cp:category/>
</cp:coreProperties>
</file>